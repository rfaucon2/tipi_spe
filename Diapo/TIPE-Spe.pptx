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59" r:id="rId4"/>
    <p:sldId id="273" r:id="rId5"/>
    <p:sldId id="272" r:id="rId6"/>
    <p:sldId id="271" r:id="rId7"/>
    <p:sldId id="270" r:id="rId8"/>
    <p:sldId id="260" r:id="rId9"/>
    <p:sldId id="262" r:id="rId10"/>
    <p:sldId id="261" r:id="rId11"/>
    <p:sldId id="274" r:id="rId12"/>
    <p:sldId id="263" r:id="rId13"/>
    <p:sldId id="275" r:id="rId14"/>
    <p:sldId id="281" r:id="rId15"/>
    <p:sldId id="277" r:id="rId16"/>
    <p:sldId id="264" r:id="rId17"/>
    <p:sldId id="265" r:id="rId18"/>
    <p:sldId id="266" r:id="rId19"/>
    <p:sldId id="276" r:id="rId20"/>
    <p:sldId id="267" r:id="rId21"/>
    <p:sldId id="268" r:id="rId22"/>
    <p:sldId id="279" r:id="rId23"/>
    <p:sldId id="278" r:id="rId24"/>
    <p:sldId id="269" r:id="rId25"/>
    <p:sldId id="280" r:id="rId2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FF00FF"/>
    <a:srgbClr val="FF33CC"/>
    <a:srgbClr val="D60093"/>
    <a:srgbClr val="EC3078"/>
    <a:srgbClr val="EC304F"/>
    <a:srgbClr val="E9338E"/>
    <a:srgbClr val="FB8605"/>
    <a:srgbClr val="228A2C"/>
    <a:srgbClr val="32C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4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0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D86A2-1DED-4EF4-9045-28E4BB90544C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66D3F-BA50-4B0A-8545-789E08F041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462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Graphe_complet" TargetMode="External"/><Relationship Id="rId2" Type="http://schemas.openxmlformats.org/officeDocument/2006/relationships/hyperlink" Target="https://www.space.com/19915-milky-way-galaxy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sechos.fr/" TargetMode="External"/><Relationship Id="rId5" Type="http://schemas.openxmlformats.org/officeDocument/2006/relationships/hyperlink" Target="https://www.youtube.com/@physicssimulations7518" TargetMode="External"/><Relationship Id="rId4" Type="http://schemas.openxmlformats.org/officeDocument/2006/relationships/hyperlink" Target="https://arborjs.org/docs/barnes-hut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Une image contenant galaxie, astronomie, espace, Espace lointain&#10;&#10;Le contenu généré par l’IA peut être incorrect.">
            <a:extLst>
              <a:ext uri="{FF2B5EF4-FFF2-40B4-BE49-F238E27FC236}">
                <a16:creationId xmlns:a16="http://schemas.microsoft.com/office/drawing/2014/main" id="{BEA0DDCC-B307-6A1A-1FE7-0EC00E9E8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/>
                    </a14:imgEffect>
                  </a14:imgLayer>
                </a14:imgProps>
              </a:ext>
            </a:extLst>
          </a:blip>
          <a:srcRect l="7566" t="167" r="7239" b="-420"/>
          <a:stretch>
            <a:fillRect/>
          </a:stretch>
        </p:blipFill>
        <p:spPr>
          <a:xfrm>
            <a:off x="0" y="-1977"/>
            <a:ext cx="9168508" cy="6892628"/>
          </a:xfrm>
          <a:prstGeom prst="rect">
            <a:avLst/>
          </a:prstGeom>
        </p:spPr>
      </p:pic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45B6C0FC-1DF3-3116-1495-29824EE1E186}"/>
              </a:ext>
            </a:extLst>
          </p:cNvPr>
          <p:cNvSpPr>
            <a:spLocks noChangeAspect="1"/>
          </p:cNvSpPr>
          <p:nvPr/>
        </p:nvSpPr>
        <p:spPr>
          <a:xfrm>
            <a:off x="1757737" y="2582995"/>
            <a:ext cx="5621235" cy="1703203"/>
          </a:xfrm>
          <a:prstGeom prst="roundRect">
            <a:avLst/>
          </a:prstGeom>
          <a:solidFill>
            <a:srgbClr val="3D3142">
              <a:alpha val="84000"/>
            </a:srgbClr>
          </a:solidFill>
          <a:ln>
            <a:noFill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latin typeface="Arial"/>
                <a:cs typeface="Arial"/>
              </a:rPr>
              <a:t>Problème à N corps:  algorithme de Barnes-Hut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ercle, Caractère coloré, art, Graphique&#10;&#10;Le contenu généré par l’IA peut être incorrect.">
            <a:extLst>
              <a:ext uri="{FF2B5EF4-FFF2-40B4-BE49-F238E27FC236}">
                <a16:creationId xmlns:a16="http://schemas.microsoft.com/office/drawing/2014/main" id="{0758D451-6539-385E-58D1-F4F711F0DF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41" t="1320" r="17254" b="-1320"/>
          <a:stretch>
            <a:fillRect/>
          </a:stretch>
        </p:blipFill>
        <p:spPr>
          <a:xfrm>
            <a:off x="5344578" y="634767"/>
            <a:ext cx="3799422" cy="3206753"/>
          </a:xfrm>
          <a:prstGeom prst="rect">
            <a:avLst/>
          </a:prstGeom>
        </p:spPr>
      </p:pic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D82D2A7C-DC39-DF98-D79F-62A518AD933B}"/>
              </a:ext>
            </a:extLst>
          </p:cNvPr>
          <p:cNvSpPr/>
          <p:nvPr/>
        </p:nvSpPr>
        <p:spPr>
          <a:xfrm rot="21320286">
            <a:off x="-521817" y="-395044"/>
            <a:ext cx="9740104" cy="1818068"/>
          </a:xfrm>
          <a:prstGeom prst="flowChartDocument">
            <a:avLst/>
          </a:prstGeom>
          <a:gradFill>
            <a:gsLst>
              <a:gs pos="0">
                <a:srgbClr val="7030A0"/>
              </a:gs>
              <a:gs pos="95000">
                <a:srgbClr val="8D239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2D71BC-4819-6E6C-C104-ECC523713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327477"/>
            <a:ext cx="5248275" cy="795335"/>
          </a:xfrm>
        </p:spPr>
        <p:txBody>
          <a:bodyPr>
            <a:norm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Positionnement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30AAF4-04DA-A131-EB37-43EF19F5A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7341" y="4051657"/>
            <a:ext cx="4095750" cy="99843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fr-FR" sz="1800" dirty="0"/>
              <a:t>Voie lactée: </a:t>
            </a:r>
          </a:p>
          <a:p>
            <a:r>
              <a:rPr lang="fr-FR" sz="1800" dirty="0"/>
              <a:t>    1.5 x 10¹¹ d’étoiles</a:t>
            </a:r>
          </a:p>
          <a:p>
            <a:r>
              <a:rPr lang="fr-FR" sz="1800" dirty="0"/>
              <a:t>    2.25 x 10²² calculs de forces !!!!</a:t>
            </a:r>
          </a:p>
          <a:p>
            <a:endParaRPr lang="fr-FR" sz="1800" dirty="0"/>
          </a:p>
          <a:p>
            <a:pPr marL="0" indent="0">
              <a:buNone/>
            </a:pPr>
            <a:r>
              <a:rPr lang="fr-FR" sz="1800" dirty="0"/>
              <a:t>On a besoin d’une meilleure approche: l’algorithme de Barnes-Hut</a:t>
            </a:r>
          </a:p>
          <a:p>
            <a:pPr lvl="1"/>
            <a:endParaRPr lang="fr-FR" sz="1800" dirty="0"/>
          </a:p>
        </p:txBody>
      </p:sp>
      <p:pic>
        <p:nvPicPr>
          <p:cNvPr id="7" name="Picture 6" descr="Selon les estimations, la Voie lactée variait entre 500 milliards et 3.000 milliards de fois la masse du Soleil.">
            <a:extLst>
              <a:ext uri="{FF2B5EF4-FFF2-40B4-BE49-F238E27FC236}">
                <a16:creationId xmlns:a16="http://schemas.microsoft.com/office/drawing/2014/main" id="{2767C6B5-6CBD-5396-0F65-5063DBB014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74" r="16830"/>
          <a:stretch>
            <a:fillRect/>
          </a:stretch>
        </p:blipFill>
        <p:spPr>
          <a:xfrm>
            <a:off x="1" y="3817739"/>
            <a:ext cx="3799422" cy="30402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FBDA73-E854-44F7-E533-40EA2DC9EAA3}"/>
              </a:ext>
            </a:extLst>
          </p:cNvPr>
          <p:cNvSpPr txBox="1"/>
          <p:nvPr/>
        </p:nvSpPr>
        <p:spPr>
          <a:xfrm>
            <a:off x="2978154" y="2053477"/>
            <a:ext cx="2238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Problème à N-corps</a:t>
            </a:r>
          </a:p>
        </p:txBody>
      </p:sp>
    </p:spTree>
    <p:extLst>
      <p:ext uri="{BB962C8B-B14F-4D97-AF65-F5344CB8AC3E}">
        <p14:creationId xmlns:p14="http://schemas.microsoft.com/office/powerpoint/2010/main" val="1797457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1AD6F2A8-DB4B-C63C-F06F-AAF5EBBDAD5C}"/>
              </a:ext>
            </a:extLst>
          </p:cNvPr>
          <p:cNvSpPr/>
          <p:nvPr/>
        </p:nvSpPr>
        <p:spPr>
          <a:xfrm rot="21320286">
            <a:off x="-523822" y="-394963"/>
            <a:ext cx="9740104" cy="1768729"/>
          </a:xfrm>
          <a:prstGeom prst="flowChartDocument">
            <a:avLst/>
          </a:prstGeom>
          <a:gradFill>
            <a:gsLst>
              <a:gs pos="0">
                <a:srgbClr val="0070C0"/>
              </a:gs>
              <a:gs pos="65000">
                <a:srgbClr val="00B0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2FA267-DF73-C7A9-F142-7998E87F9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40517"/>
            <a:ext cx="2343150" cy="681039"/>
          </a:xfrm>
        </p:spPr>
        <p:txBody>
          <a:bodyPr>
            <a:normAutofit/>
          </a:bodyPr>
          <a:lstStyle/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4147BAC7-1C7C-E2D9-F238-AF1DF4A590BF}"/>
              </a:ext>
            </a:extLst>
          </p:cNvPr>
          <p:cNvSpPr txBox="1">
            <a:spLocks/>
          </p:cNvSpPr>
          <p:nvPr/>
        </p:nvSpPr>
        <p:spPr>
          <a:xfrm>
            <a:off x="402880" y="2084992"/>
            <a:ext cx="7886700" cy="32490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Implémenter l’algorithme Naïf et calculer sa complexité</a:t>
            </a:r>
          </a:p>
        </p:txBody>
      </p:sp>
    </p:spTree>
    <p:extLst>
      <p:ext uri="{BB962C8B-B14F-4D97-AF65-F5344CB8AC3E}">
        <p14:creationId xmlns:p14="http://schemas.microsoft.com/office/powerpoint/2010/main" val="78072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C56E8-EDD6-BD48-50CA-F8EB7B9D9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B251A4D1-8D33-1D70-8235-6C644E3C888F}"/>
              </a:ext>
            </a:extLst>
          </p:cNvPr>
          <p:cNvSpPr/>
          <p:nvPr/>
        </p:nvSpPr>
        <p:spPr>
          <a:xfrm rot="21320286">
            <a:off x="-523822" y="-394963"/>
            <a:ext cx="9740104" cy="1768729"/>
          </a:xfrm>
          <a:prstGeom prst="flowChartDocument">
            <a:avLst/>
          </a:prstGeom>
          <a:gradFill>
            <a:gsLst>
              <a:gs pos="0">
                <a:srgbClr val="0070C0"/>
              </a:gs>
              <a:gs pos="65000">
                <a:srgbClr val="00B0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388AEB6-C611-9239-9929-C03BB8350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40517"/>
            <a:ext cx="2343150" cy="681039"/>
          </a:xfrm>
        </p:spPr>
        <p:txBody>
          <a:bodyPr>
            <a:normAutofit/>
          </a:bodyPr>
          <a:lstStyle/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1DE92232-FE18-D175-B308-F2BB18DA5A80}"/>
              </a:ext>
            </a:extLst>
          </p:cNvPr>
          <p:cNvSpPr txBox="1">
            <a:spLocks/>
          </p:cNvSpPr>
          <p:nvPr/>
        </p:nvSpPr>
        <p:spPr>
          <a:xfrm>
            <a:off x="402880" y="2084992"/>
            <a:ext cx="7886700" cy="32490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Implémenter l’algorithme Naïf et calculer sa complexité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Développer un algorithme plus efficace </a:t>
            </a:r>
          </a:p>
        </p:txBody>
      </p:sp>
    </p:spTree>
    <p:extLst>
      <p:ext uri="{BB962C8B-B14F-4D97-AF65-F5344CB8AC3E}">
        <p14:creationId xmlns:p14="http://schemas.microsoft.com/office/powerpoint/2010/main" val="42255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F8C1-67F9-BCA9-CA82-7122F8BD4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73098C3C-7488-E559-A7DB-5AC01FDA4C28}"/>
              </a:ext>
            </a:extLst>
          </p:cNvPr>
          <p:cNvSpPr/>
          <p:nvPr/>
        </p:nvSpPr>
        <p:spPr>
          <a:xfrm rot="21320286">
            <a:off x="-523822" y="-394963"/>
            <a:ext cx="9740104" cy="1768729"/>
          </a:xfrm>
          <a:prstGeom prst="flowChartDocument">
            <a:avLst/>
          </a:prstGeom>
          <a:gradFill>
            <a:gsLst>
              <a:gs pos="0">
                <a:srgbClr val="0070C0"/>
              </a:gs>
              <a:gs pos="65000">
                <a:srgbClr val="00B0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CE44262-786F-A405-B116-0FC98E57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40517"/>
            <a:ext cx="2343150" cy="681039"/>
          </a:xfrm>
        </p:spPr>
        <p:txBody>
          <a:bodyPr>
            <a:normAutofit/>
          </a:bodyPr>
          <a:lstStyle/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83C10F8A-559E-E0ED-6855-E2AA7243CA6F}"/>
              </a:ext>
            </a:extLst>
          </p:cNvPr>
          <p:cNvSpPr txBox="1">
            <a:spLocks/>
          </p:cNvSpPr>
          <p:nvPr/>
        </p:nvSpPr>
        <p:spPr>
          <a:xfrm>
            <a:off x="402880" y="2084992"/>
            <a:ext cx="7886700" cy="32490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Implémenter l’algorithme Naïf et calculer sa complexité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Développer un algorithme plus efficace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L’implémenter et calculer sa complexité</a:t>
            </a:r>
          </a:p>
        </p:txBody>
      </p:sp>
    </p:spTree>
    <p:extLst>
      <p:ext uri="{BB962C8B-B14F-4D97-AF65-F5344CB8AC3E}">
        <p14:creationId xmlns:p14="http://schemas.microsoft.com/office/powerpoint/2010/main" val="2033334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1ADE1-B068-A774-8482-645B27647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67665623-2D45-3B69-D122-2DACD8E804C2}"/>
              </a:ext>
            </a:extLst>
          </p:cNvPr>
          <p:cNvSpPr/>
          <p:nvPr/>
        </p:nvSpPr>
        <p:spPr>
          <a:xfrm rot="21320286">
            <a:off x="-523822" y="-394963"/>
            <a:ext cx="9740104" cy="1768729"/>
          </a:xfrm>
          <a:prstGeom prst="flowChartDocument">
            <a:avLst/>
          </a:prstGeom>
          <a:gradFill>
            <a:gsLst>
              <a:gs pos="0">
                <a:srgbClr val="0070C0"/>
              </a:gs>
              <a:gs pos="65000">
                <a:srgbClr val="00B0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969498-8D42-23B8-7CBE-3DCDA2B6B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40517"/>
            <a:ext cx="2343150" cy="681039"/>
          </a:xfrm>
        </p:spPr>
        <p:txBody>
          <a:bodyPr>
            <a:normAutofit/>
          </a:bodyPr>
          <a:lstStyle/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5FC9B0AD-F524-F9B6-D877-CBDEE607A1ED}"/>
              </a:ext>
            </a:extLst>
          </p:cNvPr>
          <p:cNvSpPr txBox="1">
            <a:spLocks/>
          </p:cNvSpPr>
          <p:nvPr/>
        </p:nvSpPr>
        <p:spPr>
          <a:xfrm>
            <a:off x="402880" y="2084992"/>
            <a:ext cx="7886700" cy="32490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Implémenter l’algorithme Naïf et calculer sa complexité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Développer un algorithme plus efficace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L’implémenter et calculer sa complexité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Vérifier et comparer les complexités de ces algorithmes</a:t>
            </a:r>
          </a:p>
        </p:txBody>
      </p:sp>
    </p:spTree>
    <p:extLst>
      <p:ext uri="{BB962C8B-B14F-4D97-AF65-F5344CB8AC3E}">
        <p14:creationId xmlns:p14="http://schemas.microsoft.com/office/powerpoint/2010/main" val="264803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671D-88AD-0B7D-2FDD-45252A54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DC43AD56-585B-B4E5-C5ED-646D6DF8BF5A}"/>
              </a:ext>
            </a:extLst>
          </p:cNvPr>
          <p:cNvSpPr/>
          <p:nvPr/>
        </p:nvSpPr>
        <p:spPr>
          <a:xfrm rot="21320286">
            <a:off x="-523822" y="-394963"/>
            <a:ext cx="9740104" cy="1768729"/>
          </a:xfrm>
          <a:prstGeom prst="flowChartDocument">
            <a:avLst/>
          </a:prstGeom>
          <a:gradFill>
            <a:gsLst>
              <a:gs pos="0">
                <a:srgbClr val="0070C0"/>
              </a:gs>
              <a:gs pos="65000">
                <a:srgbClr val="00B0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5A1E19A-687C-7ED0-B280-A0B778A9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40517"/>
            <a:ext cx="2343150" cy="681039"/>
          </a:xfrm>
        </p:spPr>
        <p:txBody>
          <a:bodyPr>
            <a:normAutofit/>
          </a:bodyPr>
          <a:lstStyle/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A23F123A-7813-BAEC-E747-D841AE28EF91}"/>
              </a:ext>
            </a:extLst>
          </p:cNvPr>
          <p:cNvSpPr txBox="1">
            <a:spLocks/>
          </p:cNvSpPr>
          <p:nvPr/>
        </p:nvSpPr>
        <p:spPr>
          <a:xfrm>
            <a:off x="402880" y="2084992"/>
            <a:ext cx="7886700" cy="32490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Implémenter l’algorithme Naïf et calculer sa complexité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Développer un algorithme plus efficace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L’implémenter et calculer sa complexité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Vérifier et comparer les complexités de ces algorithmes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fr-FR" sz="2000" dirty="0"/>
              <a:t>Observer des pistes d’amélioration</a:t>
            </a:r>
          </a:p>
        </p:txBody>
      </p:sp>
    </p:spTree>
    <p:extLst>
      <p:ext uri="{BB962C8B-B14F-4D97-AF65-F5344CB8AC3E}">
        <p14:creationId xmlns:p14="http://schemas.microsoft.com/office/powerpoint/2010/main" val="1653592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0F2781-5F54-BE95-F4EA-4B60C363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Algorithme </a:t>
            </a:r>
            <a:r>
              <a:rPr lang="fr-FR" err="1"/>
              <a:t>Naif</a:t>
            </a:r>
          </a:p>
        </p:txBody>
      </p:sp>
      <p:pic>
        <p:nvPicPr>
          <p:cNvPr id="4" name="Image 3" descr="Graphe complet — Wikipédia">
            <a:extLst>
              <a:ext uri="{FF2B5EF4-FFF2-40B4-BE49-F238E27FC236}">
                <a16:creationId xmlns:a16="http://schemas.microsoft.com/office/drawing/2014/main" id="{F42189CD-E387-CFCC-5063-B993B46F0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839" y="1464620"/>
            <a:ext cx="3143250" cy="2800350"/>
          </a:xfrm>
          <a:prstGeom prst="rect">
            <a:avLst/>
          </a:prstGeom>
        </p:spPr>
      </p:pic>
      <p:pic>
        <p:nvPicPr>
          <p:cNvPr id="5" name="Image 4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171B2D2-9465-7AEA-44E0-B85F8A0A5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249695"/>
            <a:ext cx="3771900" cy="942975"/>
          </a:xfrm>
          <a:prstGeom prst="rect">
            <a:avLst/>
          </a:prstGeom>
        </p:spPr>
      </p:pic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C1BA8B4D-6C55-3969-BBB6-0930A61946F4}"/>
              </a:ext>
            </a:extLst>
          </p:cNvPr>
          <p:cNvSpPr/>
          <p:nvPr/>
        </p:nvSpPr>
        <p:spPr>
          <a:xfrm rot="21320286">
            <a:off x="-523822" y="-394963"/>
            <a:ext cx="9740104" cy="1768729"/>
          </a:xfrm>
          <a:prstGeom prst="flowChartDocument">
            <a:avLst/>
          </a:prstGeom>
          <a:gradFill>
            <a:gsLst>
              <a:gs pos="0">
                <a:srgbClr val="228A2C"/>
              </a:gs>
              <a:gs pos="65000">
                <a:srgbClr val="32C84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2B50EC1-E2B8-6A67-8E44-3925DEFB44E2}"/>
              </a:ext>
            </a:extLst>
          </p:cNvPr>
          <p:cNvSpPr txBox="1">
            <a:spLocks/>
          </p:cNvSpPr>
          <p:nvPr/>
        </p:nvSpPr>
        <p:spPr>
          <a:xfrm>
            <a:off x="152400" y="340517"/>
            <a:ext cx="3619500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Algorithme Naïf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0A9FB-449F-9437-E73D-EB4F9A9E73B2}"/>
              </a:ext>
            </a:extLst>
          </p:cNvPr>
          <p:cNvSpPr txBox="1"/>
          <p:nvPr/>
        </p:nvSpPr>
        <p:spPr>
          <a:xfrm>
            <a:off x="152400" y="1821541"/>
            <a:ext cx="2047875" cy="373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Pseudo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A2E035-5806-E12D-0D0D-78E05DBC866B}"/>
              </a:ext>
            </a:extLst>
          </p:cNvPr>
          <p:cNvSpPr txBox="1"/>
          <p:nvPr/>
        </p:nvSpPr>
        <p:spPr>
          <a:xfrm>
            <a:off x="257175" y="4491178"/>
            <a:ext cx="7791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Complexité:</a:t>
            </a:r>
          </a:p>
          <a:p>
            <a:r>
              <a:rPr lang="fr-FR" dirty="0"/>
              <a:t>	Soit une galaxie à N étoiles</a:t>
            </a:r>
          </a:p>
          <a:p>
            <a:r>
              <a:rPr lang="fr-FR" dirty="0"/>
              <a:t>	Pour chacune des N étoiles il y a N-1 forces à calculer  </a:t>
            </a:r>
          </a:p>
          <a:p>
            <a:r>
              <a:rPr lang="fr-FR" dirty="0"/>
              <a:t>	Donc asymptotiquement cette fonction est en O(N²)</a:t>
            </a:r>
          </a:p>
        </p:txBody>
      </p:sp>
    </p:spTree>
    <p:extLst>
      <p:ext uri="{BB962C8B-B14F-4D97-AF65-F5344CB8AC3E}">
        <p14:creationId xmlns:p14="http://schemas.microsoft.com/office/powerpoint/2010/main" val="1250052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8126D78-5F61-CC6B-8E7A-B65D5B81B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847" y="1357311"/>
            <a:ext cx="2937153" cy="2934198"/>
          </a:xfrm>
          <a:prstGeom prst="rect">
            <a:avLst/>
          </a:prstGeom>
        </p:spPr>
      </p:pic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83D9BC81-AA8D-C276-2BEA-5744A664F39E}"/>
              </a:ext>
            </a:extLst>
          </p:cNvPr>
          <p:cNvSpPr/>
          <p:nvPr/>
        </p:nvSpPr>
        <p:spPr>
          <a:xfrm rot="21320286">
            <a:off x="-523822" y="-394963"/>
            <a:ext cx="9740104" cy="1768729"/>
          </a:xfrm>
          <a:prstGeom prst="flowChartDocument">
            <a:avLst/>
          </a:prstGeom>
          <a:gradFill>
            <a:gsLst>
              <a:gs pos="0">
                <a:srgbClr val="228A2C"/>
              </a:gs>
              <a:gs pos="65000">
                <a:srgbClr val="32C84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130A524E-271C-46D0-038C-3FA5F436DCAA}"/>
              </a:ext>
            </a:extLst>
          </p:cNvPr>
          <p:cNvSpPr txBox="1">
            <a:spLocks/>
          </p:cNvSpPr>
          <p:nvPr/>
        </p:nvSpPr>
        <p:spPr>
          <a:xfrm>
            <a:off x="152399" y="340517"/>
            <a:ext cx="5324475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Algorithme Naïf: Implémentation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1CAE547-DF25-95EA-F088-182D822CF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" y="1770923"/>
            <a:ext cx="3105583" cy="11241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D98CDD1-0776-982E-307E-A89CF5EF4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5" y="5091343"/>
            <a:ext cx="8983329" cy="144800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C8733F-81B4-F0D3-ADF5-4983BA62F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99" y="3429000"/>
            <a:ext cx="4877481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33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C240E4AF-2B44-38B4-EC93-E446E0BC8906}"/>
              </a:ext>
            </a:extLst>
          </p:cNvPr>
          <p:cNvSpPr/>
          <p:nvPr/>
        </p:nvSpPr>
        <p:spPr>
          <a:xfrm rot="21320286">
            <a:off x="-523822" y="-394963"/>
            <a:ext cx="9740104" cy="1768729"/>
          </a:xfrm>
          <a:prstGeom prst="flowChartDocument">
            <a:avLst/>
          </a:prstGeom>
          <a:gradFill>
            <a:gsLst>
              <a:gs pos="0">
                <a:srgbClr val="FFC000"/>
              </a:gs>
              <a:gs pos="65000">
                <a:srgbClr val="FFFF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capture d’écran, diagramme, cercle, ligne&#10;&#10;Le contenu généré par l’IA peut être incorrect.">
            <a:extLst>
              <a:ext uri="{FF2B5EF4-FFF2-40B4-BE49-F238E27FC236}">
                <a16:creationId xmlns:a16="http://schemas.microsoft.com/office/drawing/2014/main" id="{B7D4523E-E2C3-6714-1FE9-24BB18217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423" y="1766658"/>
            <a:ext cx="4463577" cy="2773396"/>
          </a:xfrm>
          <a:prstGeom prst="rect">
            <a:avLst/>
          </a:prstGeom>
        </p:spPr>
      </p:pic>
      <p:pic>
        <p:nvPicPr>
          <p:cNvPr id="5" name="Image 4" descr="Une image contenant capture d’écran, carré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44DB63CC-00AA-385D-6D9F-EAEA849A0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39" y="1776764"/>
            <a:ext cx="4167491" cy="4167491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6F9663C0-8CA3-3BC2-2468-2C6B612D87B7}"/>
              </a:ext>
            </a:extLst>
          </p:cNvPr>
          <p:cNvSpPr txBox="1">
            <a:spLocks/>
          </p:cNvSpPr>
          <p:nvPr/>
        </p:nvSpPr>
        <p:spPr>
          <a:xfrm>
            <a:off x="406535" y="372488"/>
            <a:ext cx="4803640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Algorithme de Barnes-Hut</a:t>
            </a:r>
          </a:p>
        </p:txBody>
      </p:sp>
    </p:spTree>
    <p:extLst>
      <p:ext uri="{BB962C8B-B14F-4D97-AF65-F5344CB8AC3E}">
        <p14:creationId xmlns:p14="http://schemas.microsoft.com/office/powerpoint/2010/main" val="502083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D07F3-1818-B946-D06B-C0CC60D5B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0B9FA94A-E594-C296-32B6-42A23F022FDE}"/>
              </a:ext>
            </a:extLst>
          </p:cNvPr>
          <p:cNvSpPr/>
          <p:nvPr/>
        </p:nvSpPr>
        <p:spPr>
          <a:xfrm rot="21320286">
            <a:off x="-523822" y="-394963"/>
            <a:ext cx="9740104" cy="1768729"/>
          </a:xfrm>
          <a:prstGeom prst="flowChartDocument">
            <a:avLst/>
          </a:prstGeom>
          <a:gradFill>
            <a:gsLst>
              <a:gs pos="0">
                <a:srgbClr val="FFC000"/>
              </a:gs>
              <a:gs pos="65000">
                <a:srgbClr val="FFFF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E8FD1846-4819-E220-BDF8-12CDC3EA61F4}"/>
              </a:ext>
            </a:extLst>
          </p:cNvPr>
          <p:cNvSpPr txBox="1">
            <a:spLocks/>
          </p:cNvSpPr>
          <p:nvPr/>
        </p:nvSpPr>
        <p:spPr>
          <a:xfrm>
            <a:off x="406535" y="372488"/>
            <a:ext cx="4803640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Algorithme de Barnes-Hut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17EF19-459C-191C-F0AD-A57C8CDC2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409" y="3828612"/>
            <a:ext cx="5115639" cy="3134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EB1464-D40D-3355-4F1A-25F108B32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6658"/>
            <a:ext cx="5115639" cy="30960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F821A8-DD3C-E0DB-8906-688036B6E896}"/>
              </a:ext>
            </a:extLst>
          </p:cNvPr>
          <p:cNvSpPr txBox="1"/>
          <p:nvPr/>
        </p:nvSpPr>
        <p:spPr>
          <a:xfrm>
            <a:off x="2346660" y="5206514"/>
            <a:ext cx="1133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Réussite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C28D36-4101-A356-0220-942005959864}"/>
              </a:ext>
            </a:extLst>
          </p:cNvPr>
          <p:cNvSpPr txBox="1"/>
          <p:nvPr/>
        </p:nvSpPr>
        <p:spPr>
          <a:xfrm>
            <a:off x="5869869" y="2348971"/>
            <a:ext cx="1133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Echec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C48AC0-F1A3-E299-A37C-85F86B791942}"/>
              </a:ext>
            </a:extLst>
          </p:cNvPr>
          <p:cNvCxnSpPr>
            <a:stCxn id="10" idx="3"/>
            <a:endCxn id="6" idx="1"/>
          </p:cNvCxnSpPr>
          <p:nvPr/>
        </p:nvCxnSpPr>
        <p:spPr>
          <a:xfrm>
            <a:off x="3480134" y="5391180"/>
            <a:ext cx="676275" cy="4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7A6F5E-7807-48B0-E48E-BDCA126E4C64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5181600" y="2533637"/>
            <a:ext cx="6882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656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5CCB136C-71C3-B5F4-FA94-AB0A2BBEA361}"/>
              </a:ext>
            </a:extLst>
          </p:cNvPr>
          <p:cNvSpPr/>
          <p:nvPr/>
        </p:nvSpPr>
        <p:spPr>
          <a:xfrm rot="21320286">
            <a:off x="-523822" y="-394963"/>
            <a:ext cx="9740104" cy="1768729"/>
          </a:xfrm>
          <a:prstGeom prst="flowChartDocument">
            <a:avLst/>
          </a:prstGeom>
          <a:gradFill>
            <a:gsLst>
              <a:gs pos="0">
                <a:srgbClr val="FFC000"/>
              </a:gs>
              <a:gs pos="65000">
                <a:srgbClr val="FFFF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83FBD7CF-7088-00BF-3377-F37F82838CDB}"/>
              </a:ext>
            </a:extLst>
          </p:cNvPr>
          <p:cNvSpPr txBox="1">
            <a:spLocks/>
          </p:cNvSpPr>
          <p:nvPr/>
        </p:nvSpPr>
        <p:spPr>
          <a:xfrm>
            <a:off x="-323850" y="372488"/>
            <a:ext cx="6572250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Barnes-Hut: Implémentation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B121B4-58C0-CFA4-105E-CF758D787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4120131"/>
            <a:ext cx="6103132" cy="2532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9A8C02-06C1-F0EF-94C5-D1A299623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941" y="1454069"/>
            <a:ext cx="3134162" cy="2353003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C56B5065-ED29-83FC-872F-D7887FC7E440}"/>
              </a:ext>
            </a:extLst>
          </p:cNvPr>
          <p:cNvGrpSpPr/>
          <p:nvPr/>
        </p:nvGrpSpPr>
        <p:grpSpPr>
          <a:xfrm>
            <a:off x="626849" y="2755848"/>
            <a:ext cx="3945151" cy="1091401"/>
            <a:chOff x="4265057" y="2168035"/>
            <a:chExt cx="3945151" cy="109140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E0A9DEE-23DB-E062-DA3F-0006BC995223}"/>
                </a:ext>
              </a:extLst>
            </p:cNvPr>
            <p:cNvSpPr/>
            <p:nvPr/>
          </p:nvSpPr>
          <p:spPr>
            <a:xfrm>
              <a:off x="4265057" y="2168035"/>
              <a:ext cx="323850" cy="3450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n w="0"/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37D09E6-1A6A-96E6-F5D8-F5148875AD71}"/>
                </a:ext>
              </a:extLst>
            </p:cNvPr>
            <p:cNvSpPr/>
            <p:nvPr/>
          </p:nvSpPr>
          <p:spPr>
            <a:xfrm>
              <a:off x="5363186" y="2168035"/>
              <a:ext cx="323850" cy="345012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n w="0"/>
                <a:solidFill>
                  <a:schemeClr val="tx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F6196E2-BD29-D253-D61D-24063E16134B}"/>
                </a:ext>
              </a:extLst>
            </p:cNvPr>
            <p:cNvSpPr/>
            <p:nvPr/>
          </p:nvSpPr>
          <p:spPr>
            <a:xfrm>
              <a:off x="6462847" y="2168035"/>
              <a:ext cx="323850" cy="345012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n w="0"/>
                <a:solidFill>
                  <a:schemeClr val="tx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F64DE32-2C53-5280-ECB3-977B1A263169}"/>
                </a:ext>
              </a:extLst>
            </p:cNvPr>
            <p:cNvSpPr/>
            <p:nvPr/>
          </p:nvSpPr>
          <p:spPr>
            <a:xfrm>
              <a:off x="7562508" y="2178086"/>
              <a:ext cx="323850" cy="345012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n w="0"/>
                <a:solidFill>
                  <a:schemeClr val="tx1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4A42E8B-0412-0AF5-5850-F2439163EF5B}"/>
                </a:ext>
              </a:extLst>
            </p:cNvPr>
            <p:cNvSpPr/>
            <p:nvPr/>
          </p:nvSpPr>
          <p:spPr>
            <a:xfrm>
              <a:off x="6462847" y="2914424"/>
              <a:ext cx="323850" cy="3450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n w="0"/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54C417C-AD8D-6C17-C70E-E0D2BDE58635}"/>
                </a:ext>
              </a:extLst>
            </p:cNvPr>
            <p:cNvSpPr/>
            <p:nvPr/>
          </p:nvSpPr>
          <p:spPr>
            <a:xfrm>
              <a:off x="7238658" y="2914424"/>
              <a:ext cx="323850" cy="3450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n w="0"/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05E2E03-95AF-6AD5-031F-4D503C670426}"/>
                </a:ext>
              </a:extLst>
            </p:cNvPr>
            <p:cNvSpPr/>
            <p:nvPr/>
          </p:nvSpPr>
          <p:spPr>
            <a:xfrm>
              <a:off x="7886358" y="2906200"/>
              <a:ext cx="323850" cy="3450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n w="0"/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B833EA-11B5-7D38-C595-239CEA88D156}"/>
                </a:ext>
              </a:extLst>
            </p:cNvPr>
            <p:cNvCxnSpPr>
              <a:stCxn id="20" idx="4"/>
              <a:endCxn id="22" idx="0"/>
            </p:cNvCxnSpPr>
            <p:nvPr/>
          </p:nvCxnSpPr>
          <p:spPr>
            <a:xfrm>
              <a:off x="6624772" y="2513047"/>
              <a:ext cx="0" cy="401377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36611EC-40EB-0665-9268-044737C13977}"/>
                </a:ext>
              </a:extLst>
            </p:cNvPr>
            <p:cNvCxnSpPr>
              <a:stCxn id="21" idx="3"/>
              <a:endCxn id="23" idx="0"/>
            </p:cNvCxnSpPr>
            <p:nvPr/>
          </p:nvCxnSpPr>
          <p:spPr>
            <a:xfrm flipH="1">
              <a:off x="7400583" y="2472572"/>
              <a:ext cx="209352" cy="44185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9F391D5-6425-40C3-460E-442A1B7E10CC}"/>
                </a:ext>
              </a:extLst>
            </p:cNvPr>
            <p:cNvCxnSpPr>
              <a:stCxn id="21" idx="5"/>
              <a:endCxn id="24" idx="0"/>
            </p:cNvCxnSpPr>
            <p:nvPr/>
          </p:nvCxnSpPr>
          <p:spPr>
            <a:xfrm>
              <a:off x="7838931" y="2472572"/>
              <a:ext cx="209352" cy="433628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079768C-35D0-95A1-E656-9462A2622402}"/>
              </a:ext>
            </a:extLst>
          </p:cNvPr>
          <p:cNvSpPr txBox="1"/>
          <p:nvPr/>
        </p:nvSpPr>
        <p:spPr>
          <a:xfrm>
            <a:off x="476874" y="1821385"/>
            <a:ext cx="3123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Construction de l’arbre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9EE037-96BD-6EC0-53A6-361C75011D74}"/>
              </a:ext>
            </a:extLst>
          </p:cNvPr>
          <p:cNvCxnSpPr>
            <a:cxnSpLocks/>
          </p:cNvCxnSpPr>
          <p:nvPr/>
        </p:nvCxnSpPr>
        <p:spPr>
          <a:xfrm>
            <a:off x="6181344" y="2880360"/>
            <a:ext cx="237744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42137BA5-B04C-000D-AE7D-D9E35306F590}"/>
              </a:ext>
            </a:extLst>
          </p:cNvPr>
          <p:cNvCxnSpPr/>
          <p:nvPr/>
        </p:nvCxnSpPr>
        <p:spPr>
          <a:xfrm>
            <a:off x="5212080" y="2084832"/>
            <a:ext cx="969264" cy="795528"/>
          </a:xfrm>
          <a:prstGeom prst="bentConnector3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B98F3D8-848C-6610-EC8F-35DD7967FC9D}"/>
              </a:ext>
            </a:extLst>
          </p:cNvPr>
          <p:cNvSpPr txBox="1"/>
          <p:nvPr/>
        </p:nvSpPr>
        <p:spPr>
          <a:xfrm>
            <a:off x="4180175" y="1926153"/>
            <a:ext cx="1279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Adaptation</a:t>
            </a:r>
          </a:p>
        </p:txBody>
      </p:sp>
    </p:spTree>
    <p:extLst>
      <p:ext uri="{BB962C8B-B14F-4D97-AF65-F5344CB8AC3E}">
        <p14:creationId xmlns:p14="http://schemas.microsoft.com/office/powerpoint/2010/main" val="2288409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A1849-6148-F16D-AE56-BAC6AFAD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3AC8C116-7B4F-DE62-3F8C-0C855845F2DE}"/>
              </a:ext>
            </a:extLst>
          </p:cNvPr>
          <p:cNvSpPr/>
          <p:nvPr/>
        </p:nvSpPr>
        <p:spPr>
          <a:xfrm rot="21320286">
            <a:off x="-495247" y="-433062"/>
            <a:ext cx="9740104" cy="1768729"/>
          </a:xfrm>
          <a:prstGeom prst="flowChartDocument">
            <a:avLst/>
          </a:prstGeom>
          <a:gradFill>
            <a:gsLst>
              <a:gs pos="0">
                <a:srgbClr val="FFC000"/>
              </a:gs>
              <a:gs pos="65000">
                <a:srgbClr val="FFFF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EE37AE-4BB4-E6C6-BF3D-20B6A7AF2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2791206" cy="515239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fr-FR" b="1" dirty="0"/>
              <a:t>Calcule des forces </a:t>
            </a:r>
          </a:p>
          <a:p>
            <a:endParaRPr lang="fr-FR" b="1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7F22AD60-5413-AE97-9298-03605C01DADD}"/>
              </a:ext>
            </a:extLst>
          </p:cNvPr>
          <p:cNvSpPr txBox="1">
            <a:spLocks/>
          </p:cNvSpPr>
          <p:nvPr/>
        </p:nvSpPr>
        <p:spPr>
          <a:xfrm>
            <a:off x="-323850" y="372488"/>
            <a:ext cx="6572250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Barnes-Hut: Implémentation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547DA-92EF-A135-5C4A-F96790D28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57" y="2437930"/>
            <a:ext cx="7363853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948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6B59D-43CF-6967-C1AB-BEAA90F11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CF1E7A85-7508-4363-112A-C916FF8AC7EA}"/>
              </a:ext>
            </a:extLst>
          </p:cNvPr>
          <p:cNvSpPr/>
          <p:nvPr/>
        </p:nvSpPr>
        <p:spPr>
          <a:xfrm rot="21320286">
            <a:off x="-495247" y="-433062"/>
            <a:ext cx="9740104" cy="1768729"/>
          </a:xfrm>
          <a:prstGeom prst="flowChartDocument">
            <a:avLst/>
          </a:prstGeom>
          <a:gradFill>
            <a:gsLst>
              <a:gs pos="0">
                <a:srgbClr val="FFC000"/>
              </a:gs>
              <a:gs pos="65000">
                <a:srgbClr val="FFFF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5A70A2-4236-48F3-3F50-FE8F8AF15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59825"/>
            <a:ext cx="4930902" cy="68103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 sz="2000" b="1" dirty="0"/>
              <a:t>Problème      </a:t>
            </a:r>
            <a:r>
              <a:rPr lang="fr-FR" sz="2000" dirty="0"/>
              <a:t>Masse des étoiles:  1 </a:t>
            </a:r>
            <a:r>
              <a:rPr lang="fr-FR" sz="2100" dirty="0"/>
              <a:t>M</a:t>
            </a:r>
            <a:r>
              <a:rPr lang="fr-FR" sz="2100" baseline="-25000" dirty="0"/>
              <a:t>☉</a:t>
            </a:r>
            <a:endParaRPr lang="fr-FR" sz="2100" dirty="0"/>
          </a:p>
          <a:p>
            <a:pPr marL="0" indent="0">
              <a:buNone/>
            </a:pPr>
            <a:r>
              <a:rPr lang="fr-FR" sz="2000" b="1" dirty="0"/>
              <a:t>	         </a:t>
            </a:r>
            <a:r>
              <a:rPr lang="fr-FR" sz="2000" dirty="0"/>
              <a:t>Masse du « trou noir »: 10⁶ M</a:t>
            </a:r>
            <a:r>
              <a:rPr lang="fr-FR" sz="2000" baseline="-25000" dirty="0"/>
              <a:t>☉</a:t>
            </a:r>
            <a:endParaRPr lang="fr-FR" sz="2000" dirty="0"/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8C3F46B-517F-E776-A6F0-C1107AF7BD0B}"/>
              </a:ext>
            </a:extLst>
          </p:cNvPr>
          <p:cNvSpPr txBox="1">
            <a:spLocks/>
          </p:cNvSpPr>
          <p:nvPr/>
        </p:nvSpPr>
        <p:spPr>
          <a:xfrm>
            <a:off x="-323850" y="372488"/>
            <a:ext cx="6572250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Barnes-Hut: Implémentation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A1BBD-D5AB-67C6-9D36-95156BDD4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400" y="2432774"/>
            <a:ext cx="4630400" cy="44252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7E3EC5-C73F-3C6D-597D-0D399328C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775" y="2432774"/>
            <a:ext cx="4425226" cy="442522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98A33F-8FE9-10E8-4A41-99305673CFE6}"/>
              </a:ext>
            </a:extLst>
          </p:cNvPr>
          <p:cNvCxnSpPr/>
          <p:nvPr/>
        </p:nvCxnSpPr>
        <p:spPr>
          <a:xfrm flipH="1">
            <a:off x="2414016" y="4224528"/>
            <a:ext cx="246888" cy="42976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C0CBE0-DA6E-8FFF-8C2F-1548E4F8A0E6}"/>
              </a:ext>
            </a:extLst>
          </p:cNvPr>
          <p:cNvCxnSpPr/>
          <p:nvPr/>
        </p:nvCxnSpPr>
        <p:spPr>
          <a:xfrm flipH="1">
            <a:off x="7796784" y="4224528"/>
            <a:ext cx="246888" cy="42976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227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9B4E5-7096-67CC-3A50-9E9FFD5A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EF9D6888-6B8D-EF85-B1AB-43899F71BAEE}"/>
              </a:ext>
            </a:extLst>
          </p:cNvPr>
          <p:cNvSpPr/>
          <p:nvPr/>
        </p:nvSpPr>
        <p:spPr>
          <a:xfrm rot="21320286">
            <a:off x="-495247" y="-433062"/>
            <a:ext cx="9740104" cy="1768729"/>
          </a:xfrm>
          <a:prstGeom prst="flowChartDocument">
            <a:avLst/>
          </a:prstGeom>
          <a:gradFill>
            <a:gsLst>
              <a:gs pos="0">
                <a:srgbClr val="FFC000"/>
              </a:gs>
              <a:gs pos="65000">
                <a:srgbClr val="FFFF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F1536-E2CA-CAB6-4647-C7AC400D7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825624"/>
            <a:ext cx="8332470" cy="50963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400" dirty="0"/>
              <a:t>Création de l’arbre</a:t>
            </a:r>
          </a:p>
          <a:p>
            <a:pPr marL="457200" lvl="1" indent="0">
              <a:buNone/>
            </a:pPr>
            <a:r>
              <a:rPr lang="fr-FR" sz="1600" dirty="0"/>
              <a:t>Pour chacune des N étoiles, en supposant l’arbre quasi complet, on doit traverser en moyenne log₂(N) « étage » de l’arbre.</a:t>
            </a:r>
          </a:p>
          <a:p>
            <a:pPr marL="457200" lvl="1" indent="0">
              <a:buNone/>
            </a:pPr>
            <a:r>
              <a:rPr lang="fr-FR" sz="1600" dirty="0"/>
              <a:t>On obtient donc une construction en O(N log N )</a:t>
            </a:r>
          </a:p>
          <a:p>
            <a:pPr marL="457200" lvl="1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2400" dirty="0"/>
              <a:t>Calcule des forces</a:t>
            </a:r>
          </a:p>
          <a:p>
            <a:pPr marL="457200" lvl="1" indent="0">
              <a:buNone/>
            </a:pPr>
            <a:r>
              <a:rPr lang="fr-FR" sz="1600" dirty="0"/>
              <a:t>Divisons l’espace autour d’une étoile comme suit</a:t>
            </a:r>
          </a:p>
          <a:p>
            <a:pPr marL="457200" lvl="1" indent="0">
              <a:buNone/>
            </a:pPr>
            <a:r>
              <a:rPr lang="fr-FR" sz="1600" dirty="0"/>
              <a:t>Le nombre de cellule dans chaque anneau est</a:t>
            </a:r>
          </a:p>
          <a:p>
            <a:pPr marL="457200" lvl="1" indent="0">
              <a:buNone/>
            </a:pPr>
            <a:r>
              <a:rPr lang="fr-FR" sz="1600" dirty="0"/>
              <a:t>Donc en notant n₀ le nombre d’interaction au centre et </a:t>
            </a:r>
          </a:p>
          <a:p>
            <a:pPr marL="457200" lvl="1" indent="0">
              <a:buNone/>
            </a:pPr>
            <a:r>
              <a:rPr lang="fr-FR" sz="1600" dirty="0"/>
              <a:t>le nombre d’anneau, on obtient                                  et avec   </a:t>
            </a:r>
          </a:p>
          <a:p>
            <a:pPr marL="457200" lvl="1" indent="0">
              <a:buNone/>
            </a:pPr>
            <a:r>
              <a:rPr lang="fr-FR" sz="1600" dirty="0"/>
              <a:t>D’où il vient                                                             par </a:t>
            </a:r>
          </a:p>
          <a:p>
            <a:pPr marL="457200" lvl="1" indent="0">
              <a:buNone/>
            </a:pPr>
            <a:r>
              <a:rPr lang="fr-FR" sz="1600" dirty="0"/>
              <a:t>                                                                                      et   </a:t>
            </a:r>
          </a:p>
          <a:p>
            <a:pPr marL="457200" lvl="1" indent="0">
              <a:buNone/>
            </a:pPr>
            <a:r>
              <a:rPr lang="fr-FR" sz="1600" dirty="0"/>
              <a:t>Ainsi</a:t>
            </a:r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r>
              <a:rPr lang="fr-FR" sz="1600" dirty="0"/>
              <a:t>Donc pour le N étoiles, on obtient que l’algorithme est en O(N log (N) /</a:t>
            </a:r>
            <a:r>
              <a:rPr lang="el-GR" sz="1600" dirty="0"/>
              <a:t>θ²</a:t>
            </a:r>
            <a:r>
              <a:rPr lang="fr-FR" sz="1600" dirty="0"/>
              <a:t>)</a:t>
            </a:r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0F112B14-01E9-4905-868B-DDF123E0A9A8}"/>
              </a:ext>
            </a:extLst>
          </p:cNvPr>
          <p:cNvSpPr txBox="1">
            <a:spLocks/>
          </p:cNvSpPr>
          <p:nvPr/>
        </p:nvSpPr>
        <p:spPr>
          <a:xfrm>
            <a:off x="-323850" y="372488"/>
            <a:ext cx="5901690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Barnes-Hut: Complexité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23C25-2B36-ACD2-9F52-844CA0FE0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377" y="2761488"/>
            <a:ext cx="2867039" cy="20296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EF0070-BD09-A82D-B70D-667E5DEF0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152" y="4001294"/>
            <a:ext cx="1247531" cy="3529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1114C3F-8C5A-A430-A738-2E6DA1C7E36F}"/>
              </a:ext>
            </a:extLst>
          </p:cNvPr>
          <p:cNvGrpSpPr/>
          <p:nvPr/>
        </p:nvGrpSpPr>
        <p:grpSpPr>
          <a:xfrm>
            <a:off x="3555620" y="4681451"/>
            <a:ext cx="1247532" cy="164315"/>
            <a:chOff x="3623755" y="4667159"/>
            <a:chExt cx="1533765" cy="21405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B7A3030-3B58-1B44-4005-E8C3F24E3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23755" y="4701145"/>
              <a:ext cx="500190" cy="18006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CAC3BBC-9E14-5A15-26DD-F28D769D9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23945" y="4667159"/>
              <a:ext cx="1033575" cy="214054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9E32E997-4386-D732-EE48-DA6999CA41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984" y="4640850"/>
            <a:ext cx="840688" cy="25053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21B1772-03C8-5113-AB6B-284A72E32CA5}"/>
              </a:ext>
            </a:extLst>
          </p:cNvPr>
          <p:cNvGrpSpPr/>
          <p:nvPr/>
        </p:nvGrpSpPr>
        <p:grpSpPr>
          <a:xfrm>
            <a:off x="1781684" y="4845766"/>
            <a:ext cx="2451708" cy="352920"/>
            <a:chOff x="2596902" y="5173003"/>
            <a:chExt cx="3410426" cy="55252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929B07F-5EE5-DC64-3897-5E68FCB98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68429" y="5173003"/>
              <a:ext cx="3038899" cy="552527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01F363C-B707-E950-9D23-2C6A9CCEC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96902" y="5330187"/>
              <a:ext cx="371527" cy="238158"/>
            </a:xfrm>
            <a:prstGeom prst="rect">
              <a:avLst/>
            </a:prstGeom>
          </p:spPr>
        </p:pic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162955-BC76-965C-7C40-A33A2B69E11E}"/>
              </a:ext>
            </a:extLst>
          </p:cNvPr>
          <p:cNvCxnSpPr>
            <a:cxnSpLocks/>
          </p:cNvCxnSpPr>
          <p:nvPr/>
        </p:nvCxnSpPr>
        <p:spPr>
          <a:xfrm flipV="1">
            <a:off x="7267575" y="3098800"/>
            <a:ext cx="1746250" cy="6775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843506B-DF23-A06D-8781-ECECBF329505}"/>
              </a:ext>
            </a:extLst>
          </p:cNvPr>
          <p:cNvSpPr txBox="1"/>
          <p:nvPr/>
        </p:nvSpPr>
        <p:spPr>
          <a:xfrm>
            <a:off x="8297862" y="3150993"/>
            <a:ext cx="3111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dirty="0"/>
              <a:t>R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7CD7443-880D-A60E-3EFA-064A7E7E97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1351" y="4923888"/>
            <a:ext cx="965633" cy="19184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5786477-7B50-128B-5520-567E8CCC3F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1586" y="4361565"/>
            <a:ext cx="312632" cy="23075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A1F5AAF-3186-4E87-C867-21581C17EF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3889" y="5099647"/>
            <a:ext cx="1986189" cy="38442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434856E-E066-BDE4-61CA-B527AB829A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1131" y="5484071"/>
            <a:ext cx="1609950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97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texte, capture d’écran, Tracé, ligne&#10;&#10;Le contenu généré par l’IA peut être incorrect.">
            <a:extLst>
              <a:ext uri="{FF2B5EF4-FFF2-40B4-BE49-F238E27FC236}">
                <a16:creationId xmlns:a16="http://schemas.microsoft.com/office/drawing/2014/main" id="{92C31A3C-FFE3-5B77-97EF-E3262D340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3986" y="2144803"/>
            <a:ext cx="5473148" cy="2984639"/>
          </a:xfrm>
          <a:prstGeom prst="rect">
            <a:avLst/>
          </a:prstGeom>
        </p:spPr>
      </p:pic>
      <p:pic>
        <p:nvPicPr>
          <p:cNvPr id="6" name="Image 5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3CF337FA-8856-D5D6-B265-911BA9741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60781"/>
            <a:ext cx="4381087" cy="3115919"/>
          </a:xfrm>
          <a:prstGeom prst="rect">
            <a:avLst/>
          </a:prstGeom>
        </p:spPr>
      </p:pic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E4365D21-B180-DBCB-4FDF-58260CF0A08C}"/>
              </a:ext>
            </a:extLst>
          </p:cNvPr>
          <p:cNvSpPr/>
          <p:nvPr/>
        </p:nvSpPr>
        <p:spPr>
          <a:xfrm rot="21320286">
            <a:off x="-495247" y="-433062"/>
            <a:ext cx="9740104" cy="1768729"/>
          </a:xfrm>
          <a:prstGeom prst="flowChartDocument">
            <a:avLst/>
          </a:prstGeom>
          <a:gradFill>
            <a:gsLst>
              <a:gs pos="0">
                <a:srgbClr val="FB8605"/>
              </a:gs>
              <a:gs pos="65000">
                <a:srgbClr val="FFC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texte, capture d’écran, Tracé, ligne&#10;&#10;Le contenu généré par l’IA peut être incorrect.">
            <a:extLst>
              <a:ext uri="{FF2B5EF4-FFF2-40B4-BE49-F238E27FC236}">
                <a16:creationId xmlns:a16="http://schemas.microsoft.com/office/drawing/2014/main" id="{EE3187C5-33F3-BECE-C086-312B28F19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162" y="4076700"/>
            <a:ext cx="4629150" cy="2781300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41A5281F-8686-BB2D-0416-CF0EF0F04751}"/>
              </a:ext>
            </a:extLst>
          </p:cNvPr>
          <p:cNvSpPr txBox="1">
            <a:spLocks/>
          </p:cNvSpPr>
          <p:nvPr/>
        </p:nvSpPr>
        <p:spPr>
          <a:xfrm>
            <a:off x="-323850" y="372488"/>
            <a:ext cx="6572250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7053F8BF-7103-3AC3-BDC0-8E13993CB91D}"/>
              </a:ext>
            </a:extLst>
          </p:cNvPr>
          <p:cNvSpPr txBox="1">
            <a:spLocks/>
          </p:cNvSpPr>
          <p:nvPr/>
        </p:nvSpPr>
        <p:spPr>
          <a:xfrm>
            <a:off x="-323851" y="372488"/>
            <a:ext cx="7210425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Analyse des résultats: comparaison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B5646E-31DF-62E3-A0FD-19269F8169CE}"/>
              </a:ext>
            </a:extLst>
          </p:cNvPr>
          <p:cNvSpPr/>
          <p:nvPr/>
        </p:nvSpPr>
        <p:spPr>
          <a:xfrm>
            <a:off x="4457700" y="2314575"/>
            <a:ext cx="228600" cy="219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D6FE63-526E-0A66-D217-B950D806616E}"/>
              </a:ext>
            </a:extLst>
          </p:cNvPr>
          <p:cNvSpPr/>
          <p:nvPr/>
        </p:nvSpPr>
        <p:spPr>
          <a:xfrm>
            <a:off x="3957949" y="4910367"/>
            <a:ext cx="228600" cy="219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638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FB1ECF25-FF31-A999-F134-97960B920D43}"/>
              </a:ext>
            </a:extLst>
          </p:cNvPr>
          <p:cNvSpPr/>
          <p:nvPr/>
        </p:nvSpPr>
        <p:spPr>
          <a:xfrm rot="21320286">
            <a:off x="-495247" y="-433062"/>
            <a:ext cx="9740104" cy="1768729"/>
          </a:xfrm>
          <a:prstGeom prst="flowChartDocument">
            <a:avLst/>
          </a:prstGeom>
          <a:gradFill>
            <a:gsLst>
              <a:gs pos="0">
                <a:srgbClr val="FB8605"/>
              </a:gs>
              <a:gs pos="65000">
                <a:srgbClr val="FFC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1DA37689-564C-D1C5-ECF1-BB610A63010B}"/>
              </a:ext>
            </a:extLst>
          </p:cNvPr>
          <p:cNvSpPr txBox="1">
            <a:spLocks/>
          </p:cNvSpPr>
          <p:nvPr/>
        </p:nvSpPr>
        <p:spPr>
          <a:xfrm>
            <a:off x="-323851" y="372488"/>
            <a:ext cx="4895851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Vérification: Naïf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B90EFA-8D7C-0500-7F91-81F76DF56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053" y="2073116"/>
            <a:ext cx="4033848" cy="32427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26052B-584D-11CF-0489-A0FC38477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11" y="2202748"/>
            <a:ext cx="4033850" cy="30657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8ADD51-019B-6F58-D748-85CCB11B3C25}"/>
              </a:ext>
            </a:extLst>
          </p:cNvPr>
          <p:cNvSpPr txBox="1"/>
          <p:nvPr/>
        </p:nvSpPr>
        <p:spPr>
          <a:xfrm>
            <a:off x="3721608" y="6089904"/>
            <a:ext cx="2377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Temps de calcul: 20.8 minutes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237C9F5-3411-A71F-F56A-39F3F2B917F4}"/>
              </a:ext>
            </a:extLst>
          </p:cNvPr>
          <p:cNvCxnSpPr>
            <a:cxnSpLocks/>
            <a:endCxn id="12" idx="0"/>
          </p:cNvCxnSpPr>
          <p:nvPr/>
        </p:nvCxnSpPr>
        <p:spPr>
          <a:xfrm rot="16200000" flipH="1">
            <a:off x="4004901" y="5184477"/>
            <a:ext cx="960462" cy="8503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285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6EB62E77-4CA3-E67E-1185-FE73AE38CFFA}"/>
              </a:ext>
            </a:extLst>
          </p:cNvPr>
          <p:cNvSpPr/>
          <p:nvPr/>
        </p:nvSpPr>
        <p:spPr>
          <a:xfrm rot="21320286">
            <a:off x="-495247" y="-433062"/>
            <a:ext cx="9740104" cy="1768729"/>
          </a:xfrm>
          <a:prstGeom prst="flowChartDocument">
            <a:avLst/>
          </a:prstGeom>
          <a:gradFill>
            <a:gsLst>
              <a:gs pos="0">
                <a:srgbClr val="FB8605"/>
              </a:gs>
              <a:gs pos="65000">
                <a:srgbClr val="FFC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3D8B5B05-9CED-68BA-0FE6-FABDB0A19A30}"/>
              </a:ext>
            </a:extLst>
          </p:cNvPr>
          <p:cNvSpPr txBox="1">
            <a:spLocks/>
          </p:cNvSpPr>
          <p:nvPr/>
        </p:nvSpPr>
        <p:spPr>
          <a:xfrm>
            <a:off x="-323851" y="372488"/>
            <a:ext cx="5934076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Vérification: Barnes-Hut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83A02E-F1D1-2CC2-5D83-BACCA087B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39" y="1821403"/>
            <a:ext cx="2903803" cy="22756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AE8F85-0853-AB71-7CD7-C01456CC9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02" y="3973560"/>
            <a:ext cx="2962943" cy="24070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52597C-B445-553F-519A-B880736B3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545" y="4055238"/>
            <a:ext cx="2892553" cy="23253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9C7605-7365-279E-368F-D9C1920B8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612" y="4055237"/>
            <a:ext cx="2860429" cy="23253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39918A3-E385-EF79-8CF6-0C5181C79B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4022" y="1784297"/>
            <a:ext cx="2939978" cy="232791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85C22F-ECF7-8B7B-6AC2-3778AA7A5D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0740" y="1821403"/>
            <a:ext cx="2918761" cy="2236521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07EFE48-72B8-1C26-29D2-4A527477C372}"/>
              </a:ext>
            </a:extLst>
          </p:cNvPr>
          <p:cNvCxnSpPr>
            <a:cxnSpLocks/>
          </p:cNvCxnSpPr>
          <p:nvPr/>
        </p:nvCxnSpPr>
        <p:spPr>
          <a:xfrm>
            <a:off x="3140740" y="6016752"/>
            <a:ext cx="553436" cy="4687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CAB5594-68CD-F14B-3826-F150BE0E83ED}"/>
              </a:ext>
            </a:extLst>
          </p:cNvPr>
          <p:cNvSpPr txBox="1"/>
          <p:nvPr/>
        </p:nvSpPr>
        <p:spPr>
          <a:xfrm>
            <a:off x="3694176" y="6354707"/>
            <a:ext cx="2860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Influence en 1/</a:t>
            </a:r>
            <a:r>
              <a:rPr lang="el-GR" sz="1100" dirty="0"/>
              <a:t>θ</a:t>
            </a:r>
            <a:r>
              <a:rPr lang="fr-FR" sz="1100" dirty="0"/>
              <a:t>²</a:t>
            </a:r>
          </a:p>
        </p:txBody>
      </p:sp>
    </p:spTree>
    <p:extLst>
      <p:ext uri="{BB962C8B-B14F-4D97-AF65-F5344CB8AC3E}">
        <p14:creationId xmlns:p14="http://schemas.microsoft.com/office/powerpoint/2010/main" val="57957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54DE7-01C9-0DCF-AD68-D90223C54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5C6886A3-D893-DEA4-1143-037F15C245CD}"/>
              </a:ext>
            </a:extLst>
          </p:cNvPr>
          <p:cNvSpPr/>
          <p:nvPr/>
        </p:nvSpPr>
        <p:spPr>
          <a:xfrm rot="21320286">
            <a:off x="-495247" y="-433062"/>
            <a:ext cx="9740104" cy="1768729"/>
          </a:xfrm>
          <a:prstGeom prst="flowChartDocument">
            <a:avLst/>
          </a:prstGeom>
          <a:gradFill>
            <a:gsLst>
              <a:gs pos="0">
                <a:srgbClr val="FB8605"/>
              </a:gs>
              <a:gs pos="65000">
                <a:srgbClr val="FFC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CC9FAE-4CD4-06A3-A696-17729445F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7886700" cy="3590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1800" dirty="0"/>
              <a:t>Evolution du temps de calcul à N fixe en fonction de </a:t>
            </a:r>
            <a:r>
              <a:rPr lang="el-GR" sz="1800" dirty="0"/>
              <a:t>θ</a:t>
            </a:r>
            <a:r>
              <a:rPr lang="fr-FR" sz="1800" dirty="0"/>
              <a:t> 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78CC7B20-F707-EEB8-F049-32BF0C6D5239}"/>
              </a:ext>
            </a:extLst>
          </p:cNvPr>
          <p:cNvSpPr txBox="1">
            <a:spLocks/>
          </p:cNvSpPr>
          <p:nvPr/>
        </p:nvSpPr>
        <p:spPr>
          <a:xfrm>
            <a:off x="-323851" y="372488"/>
            <a:ext cx="5934076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Vérification: Barnes-Hut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EC7436-8C3A-2384-AD06-B68807367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841" y="2403591"/>
            <a:ext cx="2750317" cy="22039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C78BAD-2541-1313-6D45-0BCE3B0E0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114" y="2370723"/>
            <a:ext cx="2750317" cy="22697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75D571-EAFE-C671-39A7-652B699FF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568" y="2313170"/>
            <a:ext cx="2750317" cy="22316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5B0916-95C1-AEBD-100A-C9939E937443}"/>
              </a:ext>
            </a:extLst>
          </p:cNvPr>
          <p:cNvSpPr txBox="1"/>
          <p:nvPr/>
        </p:nvSpPr>
        <p:spPr>
          <a:xfrm>
            <a:off x="176568" y="4698834"/>
            <a:ext cx="885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	N =1000                                                 N=3000                                                N=10000</a:t>
            </a:r>
          </a:p>
        </p:txBody>
      </p:sp>
    </p:spTree>
    <p:extLst>
      <p:ext uri="{BB962C8B-B14F-4D97-AF65-F5344CB8AC3E}">
        <p14:creationId xmlns:p14="http://schemas.microsoft.com/office/powerpoint/2010/main" val="2217016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DA4150B6-8C3C-FB9D-89E8-589A9CE0C5B6}"/>
              </a:ext>
            </a:extLst>
          </p:cNvPr>
          <p:cNvSpPr/>
          <p:nvPr/>
        </p:nvSpPr>
        <p:spPr>
          <a:xfrm rot="21320286">
            <a:off x="-495247" y="-433062"/>
            <a:ext cx="9740104" cy="1768729"/>
          </a:xfrm>
          <a:prstGeom prst="flowChartDocument">
            <a:avLst/>
          </a:prstGeom>
          <a:gradFill>
            <a:gsLst>
              <a:gs pos="0">
                <a:srgbClr val="FF0000"/>
              </a:gs>
              <a:gs pos="65000">
                <a:srgbClr val="EC307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92066F-F331-2D24-75E0-56E351217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Implémentation Quadtree peut être plus efficace</a:t>
            </a:r>
          </a:p>
          <a:p>
            <a:r>
              <a:rPr lang="fr-FR" dirty="0"/>
              <a:t>Calcul d’un champ de force total?</a:t>
            </a:r>
          </a:p>
          <a:p>
            <a:r>
              <a:rPr lang="fr-FR" dirty="0"/>
              <a:t>Passage à la carte graphique (parallélisation)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F280426-05C5-5AAF-B872-09527506B2DA}"/>
              </a:ext>
            </a:extLst>
          </p:cNvPr>
          <p:cNvSpPr txBox="1">
            <a:spLocks/>
          </p:cNvSpPr>
          <p:nvPr/>
        </p:nvSpPr>
        <p:spPr>
          <a:xfrm>
            <a:off x="-323851" y="372488"/>
            <a:ext cx="5381626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Pistes d’amélioration</a:t>
            </a:r>
          </a:p>
        </p:txBody>
      </p:sp>
    </p:spTree>
    <p:extLst>
      <p:ext uri="{BB962C8B-B14F-4D97-AF65-F5344CB8AC3E}">
        <p14:creationId xmlns:p14="http://schemas.microsoft.com/office/powerpoint/2010/main" val="3920686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E4CA5923-D1E0-EA4B-B9B1-D94586E33847}"/>
              </a:ext>
            </a:extLst>
          </p:cNvPr>
          <p:cNvSpPr/>
          <p:nvPr/>
        </p:nvSpPr>
        <p:spPr>
          <a:xfrm rot="21320286">
            <a:off x="-495247" y="-433062"/>
            <a:ext cx="9740104" cy="1768729"/>
          </a:xfrm>
          <a:prstGeom prst="flowChartDocument">
            <a:avLst/>
          </a:prstGeom>
          <a:gradFill>
            <a:gsLst>
              <a:gs pos="0">
                <a:srgbClr val="CC0066"/>
              </a:gs>
              <a:gs pos="65000">
                <a:srgbClr val="FF00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1586E5-EEA9-1135-E065-DAC26FC9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6" y="1690688"/>
            <a:ext cx="9073134" cy="4902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/>
              <a:t>Images:</a:t>
            </a:r>
          </a:p>
          <a:p>
            <a:pPr marL="457200" lvl="1" indent="0">
              <a:buNone/>
            </a:pPr>
            <a:r>
              <a:rPr lang="fr-FR" sz="1600" dirty="0">
                <a:hlinkClick r:id="rId2"/>
              </a:rPr>
              <a:t>https://www.space.com/19915-milky-way-galaxy.html</a:t>
            </a:r>
            <a:br>
              <a:rPr lang="fr-FR" sz="1600" dirty="0"/>
            </a:br>
            <a:r>
              <a:rPr lang="fr-FR" sz="1600" dirty="0">
                <a:hlinkClick r:id="rId3"/>
              </a:rPr>
              <a:t>https://fr.wikipedia.org/wiki/Graphe_complet</a:t>
            </a:r>
            <a:br>
              <a:rPr lang="fr-FR" sz="1600" dirty="0"/>
            </a:br>
            <a:r>
              <a:rPr lang="fr-FR" sz="1600" dirty="0">
                <a:hlinkClick r:id="rId4"/>
              </a:rPr>
              <a:t>https://arborjs.org/docs/barnes-hut</a:t>
            </a:r>
            <a:br>
              <a:rPr lang="fr-FR" sz="1600" dirty="0"/>
            </a:br>
            <a:r>
              <a:rPr lang="fr-FR" sz="1600" dirty="0">
                <a:hlinkClick r:id="rId5"/>
              </a:rPr>
              <a:t>https://www.youtube.com/@physicssimulations7518</a:t>
            </a:r>
            <a:br>
              <a:rPr lang="fr-FR" sz="1600" dirty="0"/>
            </a:br>
            <a:r>
              <a:rPr lang="fr-FR" sz="1600" dirty="0">
                <a:hlinkClick r:id="rId6"/>
              </a:rPr>
              <a:t>https://www.lesechos.fr/</a:t>
            </a: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1800" dirty="0"/>
              <a:t>Documents:</a:t>
            </a:r>
          </a:p>
          <a:p>
            <a:pPr lvl="1"/>
            <a:r>
              <a:rPr lang="fr-FR" sz="1600" dirty="0" err="1"/>
              <a:t>J.Dubinski</a:t>
            </a:r>
            <a:r>
              <a:rPr lang="fr-FR" sz="1600" dirty="0"/>
              <a:t>: A </a:t>
            </a:r>
            <a:r>
              <a:rPr lang="fr-FR" sz="1600" dirty="0" err="1"/>
              <a:t>parallel</a:t>
            </a:r>
            <a:r>
              <a:rPr lang="fr-FR" sz="1600" dirty="0"/>
              <a:t> </a:t>
            </a:r>
            <a:r>
              <a:rPr lang="fr-FR" sz="1600" dirty="0" err="1"/>
              <a:t>tree</a:t>
            </a:r>
            <a:r>
              <a:rPr lang="fr-FR" sz="1600" dirty="0"/>
              <a:t> code: New </a:t>
            </a:r>
            <a:r>
              <a:rPr lang="fr-FR" sz="1600" dirty="0" err="1"/>
              <a:t>Astronomy</a:t>
            </a:r>
            <a:r>
              <a:rPr lang="fr-FR" sz="1600" dirty="0"/>
              <a:t> , 1966, volume 1 pages 133 à 147</a:t>
            </a:r>
          </a:p>
          <a:p>
            <a:pPr lvl="1"/>
            <a:r>
              <a:rPr lang="fr-FR" sz="1600" dirty="0" err="1"/>
              <a:t>J.Barnes</a:t>
            </a:r>
            <a:r>
              <a:rPr lang="fr-FR" sz="1600" dirty="0"/>
              <a:t>, </a:t>
            </a:r>
            <a:r>
              <a:rPr lang="fr-FR" sz="1600" dirty="0" err="1"/>
              <a:t>P.Hut</a:t>
            </a:r>
            <a:r>
              <a:rPr lang="fr-FR" sz="1600" dirty="0"/>
              <a:t>: A </a:t>
            </a:r>
            <a:r>
              <a:rPr lang="fr-FR" sz="1600" dirty="0" err="1"/>
              <a:t>Hierarchical</a:t>
            </a:r>
            <a:r>
              <a:rPr lang="fr-FR" sz="1600" dirty="0"/>
              <a:t> O(N </a:t>
            </a:r>
            <a:r>
              <a:rPr lang="fr-FR" sz="1600" dirty="0" err="1"/>
              <a:t>logN</a:t>
            </a:r>
            <a:r>
              <a:rPr lang="fr-FR" sz="1600" dirty="0"/>
              <a:t>) force-</a:t>
            </a:r>
            <a:r>
              <a:rPr lang="fr-FR" sz="1600" dirty="0" err="1"/>
              <a:t>calculation</a:t>
            </a:r>
            <a:r>
              <a:rPr lang="fr-FR" sz="1600" dirty="0"/>
              <a:t> </a:t>
            </a:r>
            <a:r>
              <a:rPr lang="fr-FR" sz="1600" dirty="0" err="1"/>
              <a:t>algorithm</a:t>
            </a:r>
            <a:r>
              <a:rPr lang="fr-FR" sz="1600" dirty="0"/>
              <a:t>: Nature, 1986, Volume 327, pages 446 à 449</a:t>
            </a:r>
          </a:p>
          <a:p>
            <a:pPr lvl="1"/>
            <a:r>
              <a:rPr lang="fr-FR" sz="1600" dirty="0" err="1"/>
              <a:t>S.Pfalzner</a:t>
            </a:r>
            <a:r>
              <a:rPr lang="fr-FR" sz="1600" dirty="0"/>
              <a:t>, </a:t>
            </a:r>
            <a:r>
              <a:rPr lang="fr-FR" sz="1600" dirty="0" err="1"/>
              <a:t>P.Gibbon</a:t>
            </a:r>
            <a:r>
              <a:rPr lang="fr-FR" sz="1600" dirty="0"/>
              <a:t>: Many-Body </a:t>
            </a:r>
            <a:r>
              <a:rPr lang="fr-FR" sz="1600" dirty="0" err="1"/>
              <a:t>tree</a:t>
            </a:r>
            <a:r>
              <a:rPr lang="fr-FR" sz="1600" dirty="0"/>
              <a:t> </a:t>
            </a:r>
            <a:r>
              <a:rPr lang="fr-FR" sz="1600" dirty="0" err="1"/>
              <a:t>methods</a:t>
            </a:r>
            <a:r>
              <a:rPr lang="fr-FR" sz="1600" dirty="0"/>
              <a:t> in </a:t>
            </a:r>
            <a:r>
              <a:rPr lang="fr-FR" sz="1600" dirty="0" err="1"/>
              <a:t>physics</a:t>
            </a:r>
            <a:r>
              <a:rPr lang="fr-FR" sz="1600" dirty="0"/>
              <a:t>: Cambridge </a:t>
            </a:r>
            <a:r>
              <a:rPr lang="fr-FR" sz="1600" dirty="0" err="1"/>
              <a:t>university</a:t>
            </a:r>
            <a:r>
              <a:rPr lang="fr-FR" sz="1600" dirty="0"/>
              <a:t> </a:t>
            </a:r>
            <a:r>
              <a:rPr lang="fr-FR" sz="1600" dirty="0" err="1"/>
              <a:t>press</a:t>
            </a:r>
            <a:r>
              <a:rPr lang="fr-FR" sz="1600" dirty="0"/>
              <a:t>, 1996, pages 18 à 25</a:t>
            </a:r>
          </a:p>
          <a:p>
            <a:pPr lvl="1"/>
            <a:r>
              <a:rPr lang="fr-FR" sz="1600" dirty="0" err="1"/>
              <a:t>T.Ventimiglia</a:t>
            </a:r>
            <a:r>
              <a:rPr lang="fr-FR" sz="1600" dirty="0"/>
              <a:t>, </a:t>
            </a:r>
            <a:r>
              <a:rPr lang="fr-FR" sz="1600" dirty="0" err="1"/>
              <a:t>K.Wayne</a:t>
            </a:r>
            <a:r>
              <a:rPr lang="fr-FR" sz="1600" dirty="0"/>
              <a:t>: Algorithme de Barnes-Hut: </a:t>
            </a:r>
            <a:r>
              <a:rPr lang="fr-FR" sz="1600" dirty="0">
                <a:hlinkClick r:id="rId4"/>
              </a:rPr>
              <a:t>https://arborjs.org/docs/barnes-hut</a:t>
            </a:r>
            <a:endParaRPr lang="fr-FR" sz="1600" dirty="0"/>
          </a:p>
          <a:p>
            <a:pPr lvl="1"/>
            <a:r>
              <a:rPr lang="fr-FR" sz="1600" dirty="0" err="1"/>
              <a:t>M.Burtscher</a:t>
            </a:r>
            <a:r>
              <a:rPr lang="fr-FR" sz="1600" dirty="0"/>
              <a:t>, </a:t>
            </a:r>
            <a:r>
              <a:rPr lang="fr-FR" sz="1600" dirty="0" err="1"/>
              <a:t>K.Pingali</a:t>
            </a:r>
            <a:r>
              <a:rPr lang="fr-FR" sz="1600" dirty="0"/>
              <a:t>: An efficient CUDA </a:t>
            </a:r>
            <a:r>
              <a:rPr lang="fr-FR" sz="1600" dirty="0" err="1"/>
              <a:t>implementation</a:t>
            </a:r>
            <a:r>
              <a:rPr lang="fr-FR" sz="1600" dirty="0"/>
              <a:t> of the </a:t>
            </a:r>
            <a:r>
              <a:rPr lang="fr-FR" sz="1600" dirty="0" err="1"/>
              <a:t>tree-based</a:t>
            </a:r>
            <a:r>
              <a:rPr lang="fr-FR" sz="1600" dirty="0"/>
              <a:t> Barnes-Hut N-body </a:t>
            </a:r>
            <a:r>
              <a:rPr lang="fr-FR" sz="1600" dirty="0" err="1"/>
              <a:t>algorithm</a:t>
            </a:r>
            <a:r>
              <a:rPr lang="fr-FR" sz="1600" dirty="0"/>
              <a:t>: GPU </a:t>
            </a:r>
            <a:r>
              <a:rPr lang="fr-FR" sz="1600" dirty="0" err="1"/>
              <a:t>Computing</a:t>
            </a:r>
            <a:r>
              <a:rPr lang="fr-FR" sz="1600" dirty="0"/>
              <a:t> </a:t>
            </a:r>
            <a:r>
              <a:rPr lang="fr-FR" sz="1600" dirty="0" err="1"/>
              <a:t>Gems</a:t>
            </a:r>
            <a:r>
              <a:rPr lang="fr-FR" sz="1600" dirty="0"/>
              <a:t> Emerald Edition, 2011, pages 75 à 92 </a:t>
            </a:r>
          </a:p>
          <a:p>
            <a:pPr lvl="1"/>
            <a:r>
              <a:rPr lang="fr-FR" sz="1600" dirty="0" err="1"/>
              <a:t>L.Hernquist</a:t>
            </a:r>
            <a:r>
              <a:rPr lang="fr-FR" sz="1600" dirty="0"/>
              <a:t>: </a:t>
            </a:r>
            <a:r>
              <a:rPr lang="fr-FR" sz="1600" dirty="0" err="1"/>
              <a:t>Hierarchical</a:t>
            </a:r>
            <a:r>
              <a:rPr lang="fr-FR" sz="1600" dirty="0"/>
              <a:t> N-Body Methods: Computer </a:t>
            </a:r>
            <a:r>
              <a:rPr lang="fr-FR" sz="1600" dirty="0" err="1"/>
              <a:t>Physics</a:t>
            </a:r>
            <a:r>
              <a:rPr lang="fr-FR" sz="1600" dirty="0"/>
              <a:t> Communications 48, 1988 , pages 107 à 109</a:t>
            </a:r>
          </a:p>
          <a:p>
            <a:pPr marL="457200" lvl="1" indent="0">
              <a:buNone/>
            </a:pPr>
            <a:endParaRPr lang="fr-FR" sz="160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52869BC-8BA3-8F28-2CD8-BA0F96710446}"/>
              </a:ext>
            </a:extLst>
          </p:cNvPr>
          <p:cNvSpPr txBox="1">
            <a:spLocks/>
          </p:cNvSpPr>
          <p:nvPr/>
        </p:nvSpPr>
        <p:spPr>
          <a:xfrm>
            <a:off x="-323851" y="372488"/>
            <a:ext cx="3176779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185475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077D-76BC-1A11-E380-6ED883BAA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C30227B7-9014-056C-95D5-934E1B7DB82E}"/>
              </a:ext>
            </a:extLst>
          </p:cNvPr>
          <p:cNvSpPr/>
          <p:nvPr/>
        </p:nvSpPr>
        <p:spPr>
          <a:xfrm rot="21320286">
            <a:off x="-495247" y="-433062"/>
            <a:ext cx="9740104" cy="1768729"/>
          </a:xfrm>
          <a:prstGeom prst="flowChartDocument">
            <a:avLst/>
          </a:prstGeom>
          <a:gradFill>
            <a:gsLst>
              <a:gs pos="0">
                <a:srgbClr val="CC0066"/>
              </a:gs>
              <a:gs pos="65000">
                <a:srgbClr val="FF00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20DAB7D-9163-3B7C-6E12-214C2DE57619}"/>
              </a:ext>
            </a:extLst>
          </p:cNvPr>
          <p:cNvSpPr txBox="1">
            <a:spLocks/>
          </p:cNvSpPr>
          <p:nvPr/>
        </p:nvSpPr>
        <p:spPr>
          <a:xfrm>
            <a:off x="-323851" y="372488"/>
            <a:ext cx="3240787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Annexes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C5BA6E-6421-E236-CC5C-76873BB9EE55}"/>
              </a:ext>
            </a:extLst>
          </p:cNvPr>
          <p:cNvSpPr txBox="1"/>
          <p:nvPr/>
        </p:nvSpPr>
        <p:spPr>
          <a:xfrm>
            <a:off x="2527717" y="1778509"/>
            <a:ext cx="369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Fonctions d’évolution des étoiles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A8EEA-CC59-E021-156C-02372EBA4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117" y="3041319"/>
            <a:ext cx="5201376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27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11873-E39D-9670-47C4-4A57E558B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35EDE366-7957-A0A2-6636-11C47A9A8FF7}"/>
              </a:ext>
            </a:extLst>
          </p:cNvPr>
          <p:cNvSpPr/>
          <p:nvPr/>
        </p:nvSpPr>
        <p:spPr>
          <a:xfrm rot="21320286">
            <a:off x="-495247" y="-433062"/>
            <a:ext cx="9740104" cy="1768729"/>
          </a:xfrm>
          <a:prstGeom prst="flowChartDocument">
            <a:avLst/>
          </a:prstGeom>
          <a:gradFill>
            <a:gsLst>
              <a:gs pos="0">
                <a:srgbClr val="CC0066"/>
              </a:gs>
              <a:gs pos="65000">
                <a:srgbClr val="FF00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A6289E07-5281-19EC-7D55-712E577C47A5}"/>
              </a:ext>
            </a:extLst>
          </p:cNvPr>
          <p:cNvSpPr txBox="1">
            <a:spLocks/>
          </p:cNvSpPr>
          <p:nvPr/>
        </p:nvSpPr>
        <p:spPr>
          <a:xfrm>
            <a:off x="-323851" y="372488"/>
            <a:ext cx="3240787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Annexes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4C6DC8-75CD-3CC1-1A4B-EE97348204F0}"/>
              </a:ext>
            </a:extLst>
          </p:cNvPr>
          <p:cNvSpPr txBox="1"/>
          <p:nvPr/>
        </p:nvSpPr>
        <p:spPr>
          <a:xfrm>
            <a:off x="2527717" y="1778509"/>
            <a:ext cx="369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Création de l’arbre de Barnes-Hut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3569C8-C8AB-2BC1-4BFF-74C86AC02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" y="2469588"/>
            <a:ext cx="8147304" cy="411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57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5C7AA137-C45F-211A-16E8-1F9A9E454DD8}"/>
              </a:ext>
            </a:extLst>
          </p:cNvPr>
          <p:cNvSpPr/>
          <p:nvPr/>
        </p:nvSpPr>
        <p:spPr>
          <a:xfrm rot="21320286">
            <a:off x="-495247" y="-433062"/>
            <a:ext cx="9740104" cy="1768729"/>
          </a:xfrm>
          <a:prstGeom prst="flowChartDocument">
            <a:avLst/>
          </a:prstGeom>
          <a:gradFill>
            <a:gsLst>
              <a:gs pos="0">
                <a:srgbClr val="CC0066"/>
              </a:gs>
              <a:gs pos="65000">
                <a:srgbClr val="FF00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3C8647CB-09C5-883C-CB90-42826AA1CFC5}"/>
              </a:ext>
            </a:extLst>
          </p:cNvPr>
          <p:cNvSpPr txBox="1">
            <a:spLocks/>
          </p:cNvSpPr>
          <p:nvPr/>
        </p:nvSpPr>
        <p:spPr>
          <a:xfrm>
            <a:off x="-323851" y="372488"/>
            <a:ext cx="3240787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Annexes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57F972-7B27-3C31-F828-5B521E34E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251969"/>
            <a:ext cx="7790688" cy="45318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823960-8D93-A1CC-A41B-A6453F16A003}"/>
              </a:ext>
            </a:extLst>
          </p:cNvPr>
          <p:cNvSpPr txBox="1"/>
          <p:nvPr/>
        </p:nvSpPr>
        <p:spPr>
          <a:xfrm>
            <a:off x="2527717" y="1576937"/>
            <a:ext cx="369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Calcul des forces selon Barnes-Hut</a:t>
            </a:r>
          </a:p>
        </p:txBody>
      </p:sp>
    </p:spTree>
    <p:extLst>
      <p:ext uri="{BB962C8B-B14F-4D97-AF65-F5344CB8AC3E}">
        <p14:creationId xmlns:p14="http://schemas.microsoft.com/office/powerpoint/2010/main" val="4213289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74E70-9AF5-61E3-FF77-8289266CC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3784F88E-13C1-7033-C633-4FB62BD9F79B}"/>
              </a:ext>
            </a:extLst>
          </p:cNvPr>
          <p:cNvSpPr/>
          <p:nvPr/>
        </p:nvSpPr>
        <p:spPr>
          <a:xfrm rot="21320286">
            <a:off x="-495247" y="-433062"/>
            <a:ext cx="9740104" cy="1768729"/>
          </a:xfrm>
          <a:prstGeom prst="flowChartDocument">
            <a:avLst/>
          </a:prstGeom>
          <a:gradFill>
            <a:gsLst>
              <a:gs pos="0">
                <a:srgbClr val="CC0066"/>
              </a:gs>
              <a:gs pos="65000">
                <a:srgbClr val="FF00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C1FB0E0-9537-6946-52DF-3625A255CA4E}"/>
              </a:ext>
            </a:extLst>
          </p:cNvPr>
          <p:cNvSpPr txBox="1">
            <a:spLocks/>
          </p:cNvSpPr>
          <p:nvPr/>
        </p:nvSpPr>
        <p:spPr>
          <a:xfrm>
            <a:off x="-323851" y="372488"/>
            <a:ext cx="3240787" cy="681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Annexes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206EC5-330B-0525-54AD-15CEB17BC382}"/>
              </a:ext>
            </a:extLst>
          </p:cNvPr>
          <p:cNvSpPr txBox="1"/>
          <p:nvPr/>
        </p:nvSpPr>
        <p:spPr>
          <a:xfrm>
            <a:off x="2027450" y="1690008"/>
            <a:ext cx="506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Fonctions de simulations des graphes(Python)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8EA94C-E526-7F31-4677-55BCB7F4CC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927"/>
          <a:stretch>
            <a:fillRect/>
          </a:stretch>
        </p:blipFill>
        <p:spPr>
          <a:xfrm>
            <a:off x="-13648" y="2390122"/>
            <a:ext cx="4636132" cy="22959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E88E07-77DA-4581-2EF6-10D8AEB64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650" y="4562066"/>
            <a:ext cx="4558351" cy="229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621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Words>640</Words>
  <Application>Microsoft Office PowerPoint</Application>
  <PresentationFormat>On-screen Show (4:3)</PresentationFormat>
  <Paragraphs>99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Thème Office</vt:lpstr>
      <vt:lpstr>PowerPoint Presentation</vt:lpstr>
      <vt:lpstr>Positionnement du problème</vt:lpstr>
      <vt:lpstr>Objectifs</vt:lpstr>
      <vt:lpstr>Objectifs</vt:lpstr>
      <vt:lpstr>Objectifs</vt:lpstr>
      <vt:lpstr>Objectifs</vt:lpstr>
      <vt:lpstr>Objectifs</vt:lpstr>
      <vt:lpstr>Algorithme Naif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Jean-Marc Faucon</dc:creator>
  <cp:lastModifiedBy>Ronan Faucon</cp:lastModifiedBy>
  <cp:revision>5</cp:revision>
  <dcterms:created xsi:type="dcterms:W3CDTF">2026-05-26T19:42:59Z</dcterms:created>
  <dcterms:modified xsi:type="dcterms:W3CDTF">2026-06-01T22:58:07Z</dcterms:modified>
</cp:coreProperties>
</file>