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73" r:id="rId5"/>
    <p:sldId id="272" r:id="rId6"/>
    <p:sldId id="271" r:id="rId7"/>
    <p:sldId id="270" r:id="rId8"/>
    <p:sldId id="260" r:id="rId9"/>
    <p:sldId id="262" r:id="rId10"/>
    <p:sldId id="261" r:id="rId11"/>
    <p:sldId id="274" r:id="rId12"/>
    <p:sldId id="263" r:id="rId13"/>
    <p:sldId id="275" r:id="rId14"/>
    <p:sldId id="264" r:id="rId15"/>
    <p:sldId id="265" r:id="rId16"/>
    <p:sldId id="266" r:id="rId17"/>
    <p:sldId id="27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3078"/>
    <a:srgbClr val="EC304F"/>
    <a:srgbClr val="E9338E"/>
    <a:srgbClr val="FB8605"/>
    <a:srgbClr val="228A2C"/>
    <a:srgbClr val="32C840"/>
    <a:srgbClr val="8D2395"/>
    <a:srgbClr val="815D55"/>
    <a:srgbClr val="0C167D"/>
    <a:srgbClr val="3D31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48" autoAdjust="0"/>
    <p:restoredTop sz="94660"/>
  </p:normalViewPr>
  <p:slideViewPr>
    <p:cSldViewPr snapToGrid="0">
      <p:cViewPr>
        <p:scale>
          <a:sx n="100" d="100"/>
          <a:sy n="100" d="100"/>
        </p:scale>
        <p:origin x="1380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galaxie, astronomie, espace, Espace lointain&#10;&#10;Le contenu généré par l’IA peut être incorrect.">
            <a:extLst>
              <a:ext uri="{FF2B5EF4-FFF2-40B4-BE49-F238E27FC236}">
                <a16:creationId xmlns:a16="http://schemas.microsoft.com/office/drawing/2014/main" id="{BEA0DDCC-B307-6A1A-1FE7-0EC00E9E8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/>
                    </a14:imgEffect>
                  </a14:imgLayer>
                </a14:imgProps>
              </a:ext>
            </a:extLst>
          </a:blip>
          <a:srcRect l="7566" t="167" r="7239" b="-420"/>
          <a:stretch>
            <a:fillRect/>
          </a:stretch>
        </p:blipFill>
        <p:spPr>
          <a:xfrm>
            <a:off x="0" y="-1977"/>
            <a:ext cx="9168508" cy="6892628"/>
          </a:xfrm>
          <a:prstGeom prst="rect">
            <a:avLst/>
          </a:prstGeom>
        </p:spPr>
      </p:pic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45B6C0FC-1DF3-3116-1495-29824EE1E186}"/>
              </a:ext>
            </a:extLst>
          </p:cNvPr>
          <p:cNvSpPr>
            <a:spLocks noChangeAspect="1"/>
          </p:cNvSpPr>
          <p:nvPr/>
        </p:nvSpPr>
        <p:spPr>
          <a:xfrm>
            <a:off x="1757737" y="2582995"/>
            <a:ext cx="5621235" cy="1703203"/>
          </a:xfrm>
          <a:prstGeom prst="roundRect">
            <a:avLst/>
          </a:prstGeom>
          <a:solidFill>
            <a:srgbClr val="3D3142">
              <a:alpha val="84000"/>
            </a:srgbClr>
          </a:solidFill>
          <a:ln>
            <a:noFill/>
          </a:ln>
          <a:effectLst>
            <a:outerShdw blurRad="63500" dist="38100" dir="270000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>
                <a:latin typeface="Arial"/>
                <a:cs typeface="Arial"/>
              </a:rPr>
              <a:t>Problème à N corps:  algorithme de Barnes-Hut</a:t>
            </a:r>
          </a:p>
        </p:txBody>
      </p:sp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cercle, Caractère coloré, art, Graphique&#10;&#10;Le contenu généré par l’IA peut être incorrect.">
            <a:extLst>
              <a:ext uri="{FF2B5EF4-FFF2-40B4-BE49-F238E27FC236}">
                <a16:creationId xmlns:a16="http://schemas.microsoft.com/office/drawing/2014/main" id="{0758D451-6539-385E-58D1-F4F711F0DF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41" t="1320" r="17254" b="-1320"/>
          <a:stretch>
            <a:fillRect/>
          </a:stretch>
        </p:blipFill>
        <p:spPr>
          <a:xfrm>
            <a:off x="5344578" y="634767"/>
            <a:ext cx="3799422" cy="3206753"/>
          </a:xfrm>
          <a:prstGeom prst="rect">
            <a:avLst/>
          </a:prstGeom>
        </p:spPr>
      </p:pic>
      <p:sp>
        <p:nvSpPr>
          <p:cNvPr id="6" name="Flowchart: Document 5">
            <a:extLst>
              <a:ext uri="{FF2B5EF4-FFF2-40B4-BE49-F238E27FC236}">
                <a16:creationId xmlns:a16="http://schemas.microsoft.com/office/drawing/2014/main" id="{D82D2A7C-DC39-DF98-D79F-62A518AD933B}"/>
              </a:ext>
            </a:extLst>
          </p:cNvPr>
          <p:cNvSpPr/>
          <p:nvPr/>
        </p:nvSpPr>
        <p:spPr>
          <a:xfrm rot="21320286">
            <a:off x="-521817" y="-395044"/>
            <a:ext cx="9740104" cy="1818068"/>
          </a:xfrm>
          <a:prstGeom prst="flowChartDocument">
            <a:avLst/>
          </a:prstGeom>
          <a:gradFill>
            <a:gsLst>
              <a:gs pos="0">
                <a:srgbClr val="7030A0"/>
              </a:gs>
              <a:gs pos="95000">
                <a:srgbClr val="8D239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2D71BC-4819-6E6C-C104-ECC523713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275" y="327477"/>
            <a:ext cx="5248275" cy="795335"/>
          </a:xfrm>
        </p:spPr>
        <p:txBody>
          <a:bodyPr>
            <a:norm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Positionnement du problème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30AAF4-04DA-A131-EB37-43EF19F5A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341" y="4051657"/>
            <a:ext cx="4095750" cy="99843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fr-FR" sz="1800" dirty="0"/>
              <a:t>Voie lactée: </a:t>
            </a:r>
          </a:p>
          <a:p>
            <a:r>
              <a:rPr lang="fr-FR" sz="1800" dirty="0"/>
              <a:t>    1.5 x 10¹¹ d’étoiles</a:t>
            </a:r>
          </a:p>
          <a:p>
            <a:r>
              <a:rPr lang="fr-FR" sz="1800" dirty="0"/>
              <a:t>    2.25 x 10²² calculs de forces !!!!</a:t>
            </a:r>
          </a:p>
          <a:p>
            <a:endParaRPr lang="fr-FR" sz="1800" dirty="0"/>
          </a:p>
          <a:p>
            <a:pPr marL="0" indent="0">
              <a:buNone/>
            </a:pPr>
            <a:r>
              <a:rPr lang="fr-FR" sz="1800" dirty="0"/>
              <a:t>On a besoin d’une meilleure approche: l’algorithme de Barnes-Hut</a:t>
            </a:r>
          </a:p>
          <a:p>
            <a:pPr lvl="1"/>
            <a:endParaRPr lang="fr-FR" sz="1800" dirty="0"/>
          </a:p>
        </p:txBody>
      </p:sp>
      <p:pic>
        <p:nvPicPr>
          <p:cNvPr id="7" name="Picture 6" descr="Selon les estimations, la Voie lactée variait entre 500 milliards et 3.000 milliards de fois la masse du Soleil.">
            <a:extLst>
              <a:ext uri="{FF2B5EF4-FFF2-40B4-BE49-F238E27FC236}">
                <a16:creationId xmlns:a16="http://schemas.microsoft.com/office/drawing/2014/main" id="{2767C6B5-6CBD-5396-0F65-5063DBB014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74" r="16830"/>
          <a:stretch>
            <a:fillRect/>
          </a:stretch>
        </p:blipFill>
        <p:spPr>
          <a:xfrm>
            <a:off x="1" y="3817739"/>
            <a:ext cx="3799422" cy="30402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FBDA73-E854-44F7-E533-40EA2DC9EAA3}"/>
              </a:ext>
            </a:extLst>
          </p:cNvPr>
          <p:cNvSpPr txBox="1"/>
          <p:nvPr/>
        </p:nvSpPr>
        <p:spPr>
          <a:xfrm>
            <a:off x="2978154" y="2053477"/>
            <a:ext cx="2238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Problème à N-corps</a:t>
            </a:r>
          </a:p>
        </p:txBody>
      </p:sp>
    </p:spTree>
    <p:extLst>
      <p:ext uri="{BB962C8B-B14F-4D97-AF65-F5344CB8AC3E}">
        <p14:creationId xmlns:p14="http://schemas.microsoft.com/office/powerpoint/2010/main" val="1797457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1AD6F2A8-DB4B-C63C-F06F-AAF5EBBDAD5C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B2FA267-DF73-C7A9-F142-7998E87F9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147BAC7-1C7C-E2D9-F238-AF1DF4A590BF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</p:txBody>
      </p:sp>
    </p:spTree>
    <p:extLst>
      <p:ext uri="{BB962C8B-B14F-4D97-AF65-F5344CB8AC3E}">
        <p14:creationId xmlns:p14="http://schemas.microsoft.com/office/powerpoint/2010/main" val="780725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C56E8-EDD6-BD48-50CA-F8EB7B9D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B251A4D1-8D33-1D70-8235-6C644E3C888F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88AEB6-C611-9239-9929-C03BB8350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1DE92232-FE18-D175-B308-F2BB18DA5A80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Développer un algorithme plus efficace </a:t>
            </a:r>
          </a:p>
        </p:txBody>
      </p:sp>
    </p:spTree>
    <p:extLst>
      <p:ext uri="{BB962C8B-B14F-4D97-AF65-F5344CB8AC3E}">
        <p14:creationId xmlns:p14="http://schemas.microsoft.com/office/powerpoint/2010/main" val="422557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BF8C1-67F9-BCA9-CA82-7122F8BD4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73098C3C-7488-E559-A7DB-5AC01FDA4C28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CE44262-786F-A405-B116-0FC98E572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83C10F8A-559E-E0ED-6855-E2AA7243CA6F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Développer un algorithme plus efficace 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L’implémenter et calculer sa complexité</a:t>
            </a:r>
          </a:p>
        </p:txBody>
      </p:sp>
    </p:spTree>
    <p:extLst>
      <p:ext uri="{BB962C8B-B14F-4D97-AF65-F5344CB8AC3E}">
        <p14:creationId xmlns:p14="http://schemas.microsoft.com/office/powerpoint/2010/main" val="203333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1ADE1-B068-A774-8482-645B27647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67665623-2D45-3B69-D122-2DACD8E804C2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C969498-8D42-23B8-7CBE-3DCDA2B6B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5FC9B0AD-F524-F9B6-D877-CBDEE607A1ED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Développer un algorithme plus efficace 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L’implémenter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Vérifier et comparer les complexités de ces algorithmes</a:t>
            </a:r>
          </a:p>
        </p:txBody>
      </p:sp>
    </p:spTree>
    <p:extLst>
      <p:ext uri="{BB962C8B-B14F-4D97-AF65-F5344CB8AC3E}">
        <p14:creationId xmlns:p14="http://schemas.microsoft.com/office/powerpoint/2010/main" val="2648032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F671D-88AD-0B7D-2FDD-45252A54B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DC43AD56-585B-B4E5-C5ED-646D6DF8BF5A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5A1E19A-687C-7ED0-B280-A0B778A9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A23F123A-7813-BAEC-E747-D841AE28EF91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Développer un algorithme plus efficace 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L’implémenter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Vérifier et comparer les complexités de ces algorithmes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Observer des pistes d’amélioration</a:t>
            </a:r>
          </a:p>
        </p:txBody>
      </p:sp>
    </p:spTree>
    <p:extLst>
      <p:ext uri="{BB962C8B-B14F-4D97-AF65-F5344CB8AC3E}">
        <p14:creationId xmlns:p14="http://schemas.microsoft.com/office/powerpoint/2010/main" val="1653592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0F2781-5F54-BE95-F4EA-4B60C363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Algorithme </a:t>
            </a:r>
            <a:r>
              <a:rPr lang="fr-FR" err="1"/>
              <a:t>Naif</a:t>
            </a:r>
          </a:p>
        </p:txBody>
      </p:sp>
      <p:pic>
        <p:nvPicPr>
          <p:cNvPr id="4" name="Image 3" descr="Graphe complet — Wikipédia">
            <a:extLst>
              <a:ext uri="{FF2B5EF4-FFF2-40B4-BE49-F238E27FC236}">
                <a16:creationId xmlns:a16="http://schemas.microsoft.com/office/drawing/2014/main" id="{F42189CD-E387-CFCC-5063-B993B46F0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839" y="1464620"/>
            <a:ext cx="3143250" cy="2800350"/>
          </a:xfrm>
          <a:prstGeom prst="rect">
            <a:avLst/>
          </a:prstGeom>
        </p:spPr>
      </p:pic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171B2D2-9465-7AEA-44E0-B85F8A0A5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2249695"/>
            <a:ext cx="3771900" cy="942975"/>
          </a:xfrm>
          <a:prstGeom prst="rect">
            <a:avLst/>
          </a:prstGeom>
        </p:spPr>
      </p:pic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C1BA8B4D-6C55-3969-BBB6-0930A61946F4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228A2C"/>
              </a:gs>
              <a:gs pos="65000">
                <a:srgbClr val="32C84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22B50EC1-E2B8-6A67-8E44-3925DEFB44E2}"/>
              </a:ext>
            </a:extLst>
          </p:cNvPr>
          <p:cNvSpPr txBox="1">
            <a:spLocks/>
          </p:cNvSpPr>
          <p:nvPr/>
        </p:nvSpPr>
        <p:spPr>
          <a:xfrm>
            <a:off x="152400" y="340517"/>
            <a:ext cx="361950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Algorithme Naïf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30A9FB-449F-9437-E73D-EB4F9A9E73B2}"/>
              </a:ext>
            </a:extLst>
          </p:cNvPr>
          <p:cNvSpPr txBox="1"/>
          <p:nvPr/>
        </p:nvSpPr>
        <p:spPr>
          <a:xfrm>
            <a:off x="152400" y="1821541"/>
            <a:ext cx="2047875" cy="373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Pseudo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2E035-5806-E12D-0D0D-78E05DBC866B}"/>
              </a:ext>
            </a:extLst>
          </p:cNvPr>
          <p:cNvSpPr txBox="1"/>
          <p:nvPr/>
        </p:nvSpPr>
        <p:spPr>
          <a:xfrm>
            <a:off x="257175" y="4491178"/>
            <a:ext cx="77914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Complexité:</a:t>
            </a:r>
          </a:p>
          <a:p>
            <a:r>
              <a:rPr lang="fr-FR" dirty="0"/>
              <a:t>	Soit une galaxie à N étoiles</a:t>
            </a:r>
          </a:p>
          <a:p>
            <a:r>
              <a:rPr lang="fr-FR" dirty="0"/>
              <a:t>	Pour chacune des N étoiles il y a N-1 forces à calculer  </a:t>
            </a:r>
          </a:p>
          <a:p>
            <a:r>
              <a:rPr lang="fr-FR" dirty="0"/>
              <a:t>	Donc asymptotiquement cette fonction est en O(N²)</a:t>
            </a:r>
          </a:p>
        </p:txBody>
      </p:sp>
    </p:spTree>
    <p:extLst>
      <p:ext uri="{BB962C8B-B14F-4D97-AF65-F5344CB8AC3E}">
        <p14:creationId xmlns:p14="http://schemas.microsoft.com/office/powerpoint/2010/main" val="1250052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8126D78-5F61-CC6B-8E7A-B65D5B81B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847" y="1357311"/>
            <a:ext cx="2937153" cy="2934198"/>
          </a:xfrm>
          <a:prstGeom prst="rect">
            <a:avLst/>
          </a:prstGeom>
        </p:spPr>
      </p:pic>
      <p:sp>
        <p:nvSpPr>
          <p:cNvPr id="6" name="Flowchart: Document 5">
            <a:extLst>
              <a:ext uri="{FF2B5EF4-FFF2-40B4-BE49-F238E27FC236}">
                <a16:creationId xmlns:a16="http://schemas.microsoft.com/office/drawing/2014/main" id="{83D9BC81-AA8D-C276-2BEA-5744A664F39E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228A2C"/>
              </a:gs>
              <a:gs pos="65000">
                <a:srgbClr val="32C84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130A524E-271C-46D0-038C-3FA5F436DCAA}"/>
              </a:ext>
            </a:extLst>
          </p:cNvPr>
          <p:cNvSpPr txBox="1">
            <a:spLocks/>
          </p:cNvSpPr>
          <p:nvPr/>
        </p:nvSpPr>
        <p:spPr>
          <a:xfrm>
            <a:off x="152399" y="340517"/>
            <a:ext cx="5324475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Algorithme Naïf: Implémentation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1CAE547-DF25-95EA-F088-182D822CF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" y="1770923"/>
            <a:ext cx="3105583" cy="11241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D98CDD1-0776-982E-307E-A89CF5EF4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35" y="5091343"/>
            <a:ext cx="8983329" cy="144800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3C8733F-81B4-F0D3-ADF5-4983BA62F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399" y="3429000"/>
            <a:ext cx="4877481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033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C240E4AF-2B44-38B4-EC93-E446E0BC8906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capture d’écran, diagramme, cercle, ligne&#10;&#10;Le contenu généré par l’IA peut être incorrect.">
            <a:extLst>
              <a:ext uri="{FF2B5EF4-FFF2-40B4-BE49-F238E27FC236}">
                <a16:creationId xmlns:a16="http://schemas.microsoft.com/office/drawing/2014/main" id="{B7D4523E-E2C3-6714-1FE9-24BB18217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423" y="1766658"/>
            <a:ext cx="4463577" cy="2773396"/>
          </a:xfrm>
          <a:prstGeom prst="rect">
            <a:avLst/>
          </a:prstGeom>
        </p:spPr>
      </p:pic>
      <p:pic>
        <p:nvPicPr>
          <p:cNvPr id="5" name="Image 4" descr="Une image contenant capture d’écran, carré, Rectangle, conception&#10;&#10;Le contenu généré par l’IA peut être incorrect.">
            <a:extLst>
              <a:ext uri="{FF2B5EF4-FFF2-40B4-BE49-F238E27FC236}">
                <a16:creationId xmlns:a16="http://schemas.microsoft.com/office/drawing/2014/main" id="{44DB63CC-00AA-385D-6D9F-EAEA849A0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39" y="1776764"/>
            <a:ext cx="4167491" cy="416749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6F9663C0-8CA3-3BC2-2468-2C6B612D87B7}"/>
              </a:ext>
            </a:extLst>
          </p:cNvPr>
          <p:cNvSpPr txBox="1">
            <a:spLocks/>
          </p:cNvSpPr>
          <p:nvPr/>
        </p:nvSpPr>
        <p:spPr>
          <a:xfrm>
            <a:off x="406535" y="372488"/>
            <a:ext cx="480364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Algorithme de Barnes-Hut</a:t>
            </a:r>
          </a:p>
        </p:txBody>
      </p:sp>
    </p:spTree>
    <p:extLst>
      <p:ext uri="{BB962C8B-B14F-4D97-AF65-F5344CB8AC3E}">
        <p14:creationId xmlns:p14="http://schemas.microsoft.com/office/powerpoint/2010/main" val="502083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D07F3-1818-B946-D06B-C0CC60D5B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0B9FA94A-E594-C296-32B6-42A23F022FDE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E8FD1846-4819-E220-BDF8-12CDC3EA61F4}"/>
              </a:ext>
            </a:extLst>
          </p:cNvPr>
          <p:cNvSpPr txBox="1">
            <a:spLocks/>
          </p:cNvSpPr>
          <p:nvPr/>
        </p:nvSpPr>
        <p:spPr>
          <a:xfrm>
            <a:off x="406535" y="372488"/>
            <a:ext cx="480364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Algorithme de Barnes-Hut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17EF19-459C-191C-F0AD-A57C8CDC2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6409" y="3828612"/>
            <a:ext cx="5115639" cy="31341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EB1464-D40D-3355-4F1A-25F108B32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66658"/>
            <a:ext cx="5115639" cy="30960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FF821A8-DD3C-E0DB-8906-688036B6E896}"/>
              </a:ext>
            </a:extLst>
          </p:cNvPr>
          <p:cNvSpPr txBox="1"/>
          <p:nvPr/>
        </p:nvSpPr>
        <p:spPr>
          <a:xfrm>
            <a:off x="2346660" y="5206514"/>
            <a:ext cx="1133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Réussite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C28D36-4101-A356-0220-942005959864}"/>
              </a:ext>
            </a:extLst>
          </p:cNvPr>
          <p:cNvSpPr txBox="1"/>
          <p:nvPr/>
        </p:nvSpPr>
        <p:spPr>
          <a:xfrm>
            <a:off x="5869869" y="2348971"/>
            <a:ext cx="1133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Echec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2C48AC0-F1A3-E299-A37C-85F86B791942}"/>
              </a:ext>
            </a:extLst>
          </p:cNvPr>
          <p:cNvCxnSpPr>
            <a:stCxn id="10" idx="3"/>
            <a:endCxn id="6" idx="1"/>
          </p:cNvCxnSpPr>
          <p:nvPr/>
        </p:nvCxnSpPr>
        <p:spPr>
          <a:xfrm>
            <a:off x="3480134" y="5391180"/>
            <a:ext cx="676275" cy="4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7A6F5E-7807-48B0-E48E-BDCA126E4C64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181600" y="2533637"/>
            <a:ext cx="6882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3656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5CCB136C-71C3-B5F4-FA94-AB0A2BBEA361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E65BAA-2962-AC64-4F99-8987091D7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Quadtree pseudocode (code en annexe) et explication des ajustements faits (std::</a:t>
            </a:r>
            <a:r>
              <a:rPr lang="fr-FR" dirty="0" err="1"/>
              <a:t>vector</a:t>
            </a:r>
            <a:r>
              <a:rPr lang="fr-FR" dirty="0"/>
              <a:t>)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83FBD7CF-7088-00BF-3377-F37F82838CDB}"/>
              </a:ext>
            </a:extLst>
          </p:cNvPr>
          <p:cNvSpPr txBox="1">
            <a:spLocks/>
          </p:cNvSpPr>
          <p:nvPr/>
        </p:nvSpPr>
        <p:spPr>
          <a:xfrm>
            <a:off x="-323850" y="372488"/>
            <a:ext cx="657225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Barnes-Hut: Implémentation</a:t>
            </a:r>
          </a:p>
        </p:txBody>
      </p:sp>
    </p:spTree>
    <p:extLst>
      <p:ext uri="{BB962C8B-B14F-4D97-AF65-F5344CB8AC3E}">
        <p14:creationId xmlns:p14="http://schemas.microsoft.com/office/powerpoint/2010/main" val="2288409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A1849-6148-F16D-AE56-BAC6AFAD4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3AC8C116-7B4F-DE62-3F8C-0C855845F2DE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EE37AE-4BB4-E6C6-BF3D-20B6A7AF2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fr-FR" dirty="0"/>
              <a:t>Complexité</a:t>
            </a:r>
          </a:p>
          <a:p>
            <a:endParaRPr lang="fr-FR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7F22AD60-5413-AE97-9298-03605C01DADD}"/>
              </a:ext>
            </a:extLst>
          </p:cNvPr>
          <p:cNvSpPr txBox="1">
            <a:spLocks/>
          </p:cNvSpPr>
          <p:nvPr/>
        </p:nvSpPr>
        <p:spPr>
          <a:xfrm>
            <a:off x="-323850" y="372488"/>
            <a:ext cx="657225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Barnes-Hut: Implémentation</a:t>
            </a:r>
          </a:p>
        </p:txBody>
      </p:sp>
    </p:spTree>
    <p:extLst>
      <p:ext uri="{BB962C8B-B14F-4D97-AF65-F5344CB8AC3E}">
        <p14:creationId xmlns:p14="http://schemas.microsoft.com/office/powerpoint/2010/main" val="1946948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texte, capture d’écran, Tracé, ligne&#10;&#10;Le contenu généré par l’IA peut être incorrect.">
            <a:extLst>
              <a:ext uri="{FF2B5EF4-FFF2-40B4-BE49-F238E27FC236}">
                <a16:creationId xmlns:a16="http://schemas.microsoft.com/office/drawing/2014/main" id="{92C31A3C-FFE3-5B77-97EF-E3262D340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3986" y="2144803"/>
            <a:ext cx="5473148" cy="2984639"/>
          </a:xfrm>
          <a:prstGeom prst="rect">
            <a:avLst/>
          </a:prstGeom>
        </p:spPr>
      </p:pic>
      <p:pic>
        <p:nvPicPr>
          <p:cNvPr id="6" name="Image 5" descr="Une image contenant texte,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3CF337FA-8856-D5D6-B265-911BA9741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60781"/>
            <a:ext cx="4381087" cy="3115919"/>
          </a:xfrm>
          <a:prstGeom prst="rect">
            <a:avLst/>
          </a:prstGeom>
        </p:spPr>
      </p:pic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E4365D21-B180-DBCB-4FDF-58260CF0A08C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B8605"/>
              </a:gs>
              <a:gs pos="6500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Image 6" descr="Une image contenant texte, capture d’écran, Tracé, ligne&#10;&#10;Le contenu généré par l’IA peut être incorrect.">
            <a:extLst>
              <a:ext uri="{FF2B5EF4-FFF2-40B4-BE49-F238E27FC236}">
                <a16:creationId xmlns:a16="http://schemas.microsoft.com/office/drawing/2014/main" id="{EE3187C5-33F3-BECE-C086-312B28F199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162" y="4076700"/>
            <a:ext cx="4629150" cy="27813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41A5281F-8686-BB2D-0416-CF0EF0F04751}"/>
              </a:ext>
            </a:extLst>
          </p:cNvPr>
          <p:cNvSpPr txBox="1">
            <a:spLocks/>
          </p:cNvSpPr>
          <p:nvPr/>
        </p:nvSpPr>
        <p:spPr>
          <a:xfrm>
            <a:off x="-323850" y="372488"/>
            <a:ext cx="657225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7053F8BF-7103-3AC3-BDC0-8E13993CB91D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7210425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Analyse des résultats: comparaison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B5646E-31DF-62E3-A0FD-19269F8169CE}"/>
              </a:ext>
            </a:extLst>
          </p:cNvPr>
          <p:cNvSpPr/>
          <p:nvPr/>
        </p:nvSpPr>
        <p:spPr>
          <a:xfrm>
            <a:off x="4457700" y="2314575"/>
            <a:ext cx="228600" cy="2190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D6FE63-526E-0A66-D217-B950D806616E}"/>
              </a:ext>
            </a:extLst>
          </p:cNvPr>
          <p:cNvSpPr/>
          <p:nvPr/>
        </p:nvSpPr>
        <p:spPr>
          <a:xfrm>
            <a:off x="3957949" y="4910367"/>
            <a:ext cx="228600" cy="2190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638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FB1ECF25-FF31-A999-F134-97960B920D43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B8605"/>
              </a:gs>
              <a:gs pos="6500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F03125-9551-C1C9-CC72-B4B1F35B3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Graphe et graphe en log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1DA37689-564C-D1C5-ECF1-BB610A63010B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4895851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Vérification: Naïf</a:t>
            </a:r>
          </a:p>
        </p:txBody>
      </p:sp>
    </p:spTree>
    <p:extLst>
      <p:ext uri="{BB962C8B-B14F-4D97-AF65-F5344CB8AC3E}">
        <p14:creationId xmlns:p14="http://schemas.microsoft.com/office/powerpoint/2010/main" val="4159285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6EB62E77-4CA3-E67E-1185-FE73AE38CFFA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B8605"/>
              </a:gs>
              <a:gs pos="6500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01202B-B54A-A8F4-B5E3-166B648F1D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En fonction de la taille de la galaxie(thêta fixé)  et de thêta (N fixé)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3D8B5B05-9CED-68BA-0FE6-FABDB0A19A30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5934076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Vérification: Barnes-Hut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1ECD3A7-7BA3-6C40-8955-29E59C029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107" y="4588275"/>
            <a:ext cx="2695575" cy="21601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BCA02C-F9F7-F0A2-10FD-0168EF636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683" y="4588275"/>
            <a:ext cx="2750317" cy="2269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2AD910-A85D-538A-6A13-B07841208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877" y="4588275"/>
            <a:ext cx="2797230" cy="226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57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54DE7-01C9-0DCF-AD68-D90223C54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5C6886A3-D893-DEA4-1143-037F15C245CD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B8605"/>
              </a:gs>
              <a:gs pos="6500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CC9FAE-4CD4-06A3-A696-17729445F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5625"/>
            <a:ext cx="7886700" cy="359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fr-FR" sz="1800" dirty="0"/>
              <a:t>Evolution du temps de calcul à N fixe en fonction de </a:t>
            </a:r>
            <a:r>
              <a:rPr lang="el-GR" sz="1800" dirty="0"/>
              <a:t>θ</a:t>
            </a:r>
            <a:r>
              <a:rPr lang="fr-FR" sz="1800" dirty="0"/>
              <a:t> 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78CC7B20-F707-EEB8-F049-32BF0C6D5239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5934076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Vérification: Barnes-Hut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EC7436-8C3A-2384-AD06-B68807367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841" y="2403591"/>
            <a:ext cx="2750317" cy="220398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C78BAD-2541-1313-6D45-0BCE3B0E0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114" y="2370723"/>
            <a:ext cx="2750317" cy="2269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D75D571-EAFE-C671-39A7-652B699FF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568" y="2313170"/>
            <a:ext cx="2750317" cy="22316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5B0916-95C1-AEBD-100A-C9939E937443}"/>
              </a:ext>
            </a:extLst>
          </p:cNvPr>
          <p:cNvSpPr txBox="1"/>
          <p:nvPr/>
        </p:nvSpPr>
        <p:spPr>
          <a:xfrm>
            <a:off x="176568" y="4698834"/>
            <a:ext cx="8853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 	N =1000                                                 N=3000                                                N=10000</a:t>
            </a:r>
          </a:p>
        </p:txBody>
      </p:sp>
    </p:spTree>
    <p:extLst>
      <p:ext uri="{BB962C8B-B14F-4D97-AF65-F5344CB8AC3E}">
        <p14:creationId xmlns:p14="http://schemas.microsoft.com/office/powerpoint/2010/main" val="22170163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DA4150B6-8C3C-FB9D-89E8-589A9CE0C5B6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F0000"/>
              </a:gs>
              <a:gs pos="65000">
                <a:srgbClr val="EC3078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92066F-F331-2D24-75E0-56E351217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Implémentation Quadtree peut être plus efficace</a:t>
            </a:r>
          </a:p>
          <a:p>
            <a:r>
              <a:rPr lang="fr-FR"/>
              <a:t>Passage à la carte graphique (parallélisation) [Code IA?]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BF280426-05C5-5AAF-B872-09527506B2DA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5381626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Pistes d’amélioration</a:t>
            </a:r>
          </a:p>
        </p:txBody>
      </p:sp>
    </p:spTree>
    <p:extLst>
      <p:ext uri="{BB962C8B-B14F-4D97-AF65-F5344CB8AC3E}">
        <p14:creationId xmlns:p14="http://schemas.microsoft.com/office/powerpoint/2010/main" val="3920686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3214FE-E465-39F0-9D08-74EC41D11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1586E5-EEA9-1135-E065-DAC26FC92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4751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F6E783-D20B-7A13-02CA-161B2E87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Annexes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F315990-FACB-B0C9-3EF3-8E0E2D337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328913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293</Words>
  <Application>Microsoft Office PowerPoint</Application>
  <PresentationFormat>On-screen Show (4:3)</PresentationFormat>
  <Paragraphs>57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Thème Office</vt:lpstr>
      <vt:lpstr>PowerPoint Presentation</vt:lpstr>
      <vt:lpstr>Positionnement du problème</vt:lpstr>
      <vt:lpstr>Objectifs</vt:lpstr>
      <vt:lpstr>Objectifs</vt:lpstr>
      <vt:lpstr>Objectifs</vt:lpstr>
      <vt:lpstr>Objectifs</vt:lpstr>
      <vt:lpstr>Objectifs</vt:lpstr>
      <vt:lpstr>Algorithme Naif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Sources</vt:lpstr>
      <vt:lpstr>Annexes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Jean-Marc Faucon</dc:creator>
  <cp:lastModifiedBy>Ronan Faucon</cp:lastModifiedBy>
  <cp:revision>3</cp:revision>
  <dcterms:created xsi:type="dcterms:W3CDTF">2026-05-26T19:42:59Z</dcterms:created>
  <dcterms:modified xsi:type="dcterms:W3CDTF">2026-05-31T21:25:16Z</dcterms:modified>
</cp:coreProperties>
</file>